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8"/>
        </a:solidFill>
      </p:bgPr>
    </p:bg>
    <p:spTree>
      <p:nvGrpSpPr>
        <p:cNvPr id="1" name=""/>
        <p:cNvGrpSpPr/>
        <p:nvPr/>
      </p:nvGrpSpPr>
      <p:grpSpPr>
        <a:xfrm>
          <a:off x="0" y="0"/>
          <a:ext cx="0" cy="0"/>
          <a:chOff x="0" y="0"/>
          <a:chExt cx="0" cy="0"/>
        </a:xfrm>
      </p:grpSpPr>
      <p:pic>
        <p:nvPicPr>
          <p:cNvPr id="2" name="Image 0" descr="assets/logo_shield.png">    </p:cNvPr>
          <p:cNvPicPr>
            <a:picLocks noChangeAspect="1"/>
          </p:cNvPicPr>
          <p:nvPr/>
        </p:nvPicPr>
        <p:blipFill>
          <a:blip r:embed="rId1"/>
          <a:stretch>
            <a:fillRect/>
          </a:stretch>
        </p:blipFill>
        <p:spPr>
          <a:xfrm>
            <a:off x="5358384" y="777240"/>
            <a:ext cx="1463040" cy="1463040"/>
          </a:xfrm>
          <a:prstGeom prst="rect">
            <a:avLst/>
          </a:prstGeom>
        </p:spPr>
      </p:pic>
      <p:sp>
        <p:nvSpPr>
          <p:cNvPr id="3" name="Text 0"/>
          <p:cNvSpPr/>
          <p:nvPr/>
        </p:nvSpPr>
        <p:spPr>
          <a:xfrm>
            <a:off x="457200" y="2331720"/>
            <a:ext cx="11274552" cy="868680"/>
          </a:xfrm>
          <a:prstGeom prst="rect">
            <a:avLst/>
          </a:prstGeom>
          <a:noFill/>
          <a:ln/>
        </p:spPr>
        <p:txBody>
          <a:bodyPr wrap="square" rtlCol="0" anchor="ctr"/>
          <a:lstStyle/>
          <a:p>
            <a:pPr algn="ctr" indent="0" marL="0">
              <a:buNone/>
            </a:pPr>
            <a:r>
              <a:rPr lang="en-US" sz="5200" b="1" dirty="0">
                <a:solidFill>
                  <a:srgbClr val="201F1E"/>
                </a:solidFill>
                <a:latin typeface="Segoe UI Semibold" pitchFamily="34" charset="0"/>
                <a:ea typeface="Segoe UI Semibold" pitchFamily="34" charset="-122"/>
                <a:cs typeface="Segoe UI Semibold" pitchFamily="34" charset="-120"/>
              </a:rPr>
              <a:t>DevGuardian</a:t>
            </a:r>
            <a:endParaRPr lang="en-US" sz="5200" dirty="0"/>
          </a:p>
        </p:txBody>
      </p:sp>
      <p:sp>
        <p:nvSpPr>
          <p:cNvPr id="4" name="Text 1"/>
          <p:cNvSpPr/>
          <p:nvPr/>
        </p:nvSpPr>
        <p:spPr>
          <a:xfrm>
            <a:off x="457200" y="3200400"/>
            <a:ext cx="11274552" cy="457200"/>
          </a:xfrm>
          <a:prstGeom prst="rect">
            <a:avLst/>
          </a:prstGeom>
          <a:noFill/>
          <a:ln/>
        </p:spPr>
        <p:txBody>
          <a:bodyPr wrap="square" rtlCol="0" anchor="ctr"/>
          <a:lstStyle/>
          <a:p>
            <a:pPr algn="ctr" indent="0" marL="0">
              <a:buNone/>
            </a:pPr>
            <a:r>
              <a:rPr lang="en-US" sz="2000" dirty="0">
                <a:solidFill>
                  <a:srgbClr val="005A9E"/>
                </a:solidFill>
                <a:latin typeface="Segoe UI" pitchFamily="34" charset="0"/>
                <a:ea typeface="Segoe UI" pitchFamily="34" charset="-122"/>
                <a:cs typeface="Segoe UI" pitchFamily="34" charset="-120"/>
              </a:rPr>
              <a:t>AI-Powered Intelligent CI/CD Guardian</a:t>
            </a:r>
            <a:endParaRPr lang="en-US" sz="2000" dirty="0"/>
          </a:p>
        </p:txBody>
      </p:sp>
      <p:sp>
        <p:nvSpPr>
          <p:cNvPr id="5" name="Text 2"/>
          <p:cNvSpPr/>
          <p:nvPr/>
        </p:nvSpPr>
        <p:spPr>
          <a:xfrm>
            <a:off x="457200" y="3657600"/>
            <a:ext cx="11274552" cy="365760"/>
          </a:xfrm>
          <a:prstGeom prst="rect">
            <a:avLst/>
          </a:prstGeom>
          <a:noFill/>
          <a:ln/>
        </p:spPr>
        <p:txBody>
          <a:bodyPr wrap="square" rtlCol="0" anchor="ctr"/>
          <a:lstStyle/>
          <a:p>
            <a:pPr algn="ctr" indent="0" marL="0">
              <a:buNone/>
            </a:pPr>
            <a:r>
              <a:rPr lang="en-US" sz="1300" i="1" dirty="0">
                <a:solidFill>
                  <a:srgbClr val="605E5C"/>
                </a:solidFill>
                <a:latin typeface="Segoe UI" pitchFamily="34" charset="0"/>
                <a:ea typeface="Segoe UI" pitchFamily="34" charset="-122"/>
                <a:cs typeface="Segoe UI" pitchFamily="34" charset="-120"/>
              </a:rPr>
              <a:t>Developer Trust Score  +  Codebase DNA Fingerprint</a:t>
            </a:r>
            <a:endParaRPr lang="en-US" sz="1300" dirty="0"/>
          </a:p>
        </p:txBody>
      </p:sp>
      <p:sp>
        <p:nvSpPr>
          <p:cNvPr id="6" name="Shape 3"/>
          <p:cNvSpPr/>
          <p:nvPr/>
        </p:nvSpPr>
        <p:spPr>
          <a:xfrm>
            <a:off x="2615184" y="4343400"/>
            <a:ext cx="2388413" cy="457200"/>
          </a:xfrm>
          <a:prstGeom prst="roundRect">
            <a:avLst>
              <a:gd name="adj" fmla="val 50000"/>
            </a:avLst>
          </a:prstGeom>
          <a:solidFill>
            <a:srgbClr val="DEECF9"/>
          </a:solidFill>
          <a:ln w="12700">
            <a:solidFill>
              <a:srgbClr val="0078D4"/>
            </a:solidFill>
            <a:prstDash val="solid"/>
          </a:ln>
        </p:spPr>
      </p:sp>
      <p:sp>
        <p:nvSpPr>
          <p:cNvPr id="7" name="Text 4"/>
          <p:cNvSpPr/>
          <p:nvPr/>
        </p:nvSpPr>
        <p:spPr>
          <a:xfrm>
            <a:off x="2615184" y="4343400"/>
            <a:ext cx="2388413" cy="457200"/>
          </a:xfrm>
          <a:prstGeom prst="rect">
            <a:avLst/>
          </a:prstGeom>
          <a:noFill/>
          <a:ln/>
        </p:spPr>
        <p:txBody>
          <a:bodyPr wrap="square" rtlCol="0" anchor="ctr"/>
          <a:lstStyle/>
          <a:p>
            <a:pPr algn="ctr" indent="0" marL="0">
              <a:buNone/>
            </a:pPr>
            <a:r>
              <a:rPr lang="en-US" sz="1150" b="1" dirty="0">
                <a:solidFill>
                  <a:srgbClr val="005A9E"/>
                </a:solidFill>
                <a:latin typeface="Segoe UI Semibold" pitchFamily="34" charset="0"/>
                <a:ea typeface="Segoe UI Semibold" pitchFamily="34" charset="-122"/>
                <a:cs typeface="Segoe UI Semibold" pitchFamily="34" charset="-120"/>
              </a:rPr>
              <a:t>Prototype Submission Phase</a:t>
            </a:r>
            <a:endParaRPr lang="en-US" sz="1150" dirty="0"/>
          </a:p>
        </p:txBody>
      </p:sp>
      <p:sp>
        <p:nvSpPr>
          <p:cNvPr id="8" name="Shape 5"/>
          <p:cNvSpPr/>
          <p:nvPr/>
        </p:nvSpPr>
        <p:spPr>
          <a:xfrm>
            <a:off x="5232197" y="4343400"/>
            <a:ext cx="2724912" cy="457200"/>
          </a:xfrm>
          <a:prstGeom prst="roundRect">
            <a:avLst>
              <a:gd name="adj" fmla="val 50000"/>
            </a:avLst>
          </a:prstGeom>
          <a:solidFill>
            <a:srgbClr val="DEECF9"/>
          </a:solidFill>
          <a:ln w="12700">
            <a:solidFill>
              <a:srgbClr val="0078D4"/>
            </a:solidFill>
            <a:prstDash val="solid"/>
          </a:ln>
        </p:spPr>
      </p:sp>
      <p:sp>
        <p:nvSpPr>
          <p:cNvPr id="9" name="Text 6"/>
          <p:cNvSpPr/>
          <p:nvPr/>
        </p:nvSpPr>
        <p:spPr>
          <a:xfrm>
            <a:off x="5232197" y="4343400"/>
            <a:ext cx="2724912" cy="457200"/>
          </a:xfrm>
          <a:prstGeom prst="rect">
            <a:avLst/>
          </a:prstGeom>
          <a:noFill/>
          <a:ln/>
        </p:spPr>
        <p:txBody>
          <a:bodyPr wrap="square" rtlCol="0" anchor="ctr"/>
          <a:lstStyle/>
          <a:p>
            <a:pPr algn="ctr" indent="0" marL="0">
              <a:buNone/>
            </a:pPr>
            <a:r>
              <a:rPr lang="en-US" sz="1150" b="1" dirty="0">
                <a:solidFill>
                  <a:srgbClr val="005A9E"/>
                </a:solidFill>
                <a:latin typeface="Segoe UI Semibold" pitchFamily="34" charset="0"/>
                <a:ea typeface="Segoe UI Semibold" pitchFamily="34" charset="-122"/>
                <a:cs typeface="Segoe UI Semibold" pitchFamily="34" charset="-120"/>
              </a:rPr>
              <a:t>Microsoft Hackathon — Theme 06</a:t>
            </a:r>
            <a:endParaRPr lang="en-US" sz="1150" dirty="0"/>
          </a:p>
        </p:txBody>
      </p:sp>
      <p:sp>
        <p:nvSpPr>
          <p:cNvPr id="10" name="Shape 7"/>
          <p:cNvSpPr/>
          <p:nvPr/>
        </p:nvSpPr>
        <p:spPr>
          <a:xfrm>
            <a:off x="8185709" y="4343400"/>
            <a:ext cx="1967789" cy="457200"/>
          </a:xfrm>
          <a:prstGeom prst="roundRect">
            <a:avLst>
              <a:gd name="adj" fmla="val 50000"/>
            </a:avLst>
          </a:prstGeom>
          <a:solidFill>
            <a:srgbClr val="DEECF9"/>
          </a:solidFill>
          <a:ln w="12700">
            <a:solidFill>
              <a:srgbClr val="0078D4"/>
            </a:solidFill>
            <a:prstDash val="solid"/>
          </a:ln>
        </p:spPr>
      </p:sp>
      <p:sp>
        <p:nvSpPr>
          <p:cNvPr id="11" name="Text 8"/>
          <p:cNvSpPr/>
          <p:nvPr/>
        </p:nvSpPr>
        <p:spPr>
          <a:xfrm>
            <a:off x="8185709" y="4343400"/>
            <a:ext cx="1967789" cy="457200"/>
          </a:xfrm>
          <a:prstGeom prst="rect">
            <a:avLst/>
          </a:prstGeom>
          <a:noFill/>
          <a:ln/>
        </p:spPr>
        <p:txBody>
          <a:bodyPr wrap="square" rtlCol="0" anchor="ctr"/>
          <a:lstStyle/>
          <a:p>
            <a:pPr algn="ctr" indent="0" marL="0">
              <a:buNone/>
            </a:pPr>
            <a:r>
              <a:rPr lang="en-US" sz="1150" b="1" dirty="0">
                <a:solidFill>
                  <a:srgbClr val="005A9E"/>
                </a:solidFill>
                <a:latin typeface="Segoe UI Semibold" pitchFamily="34" charset="0"/>
                <a:ea typeface="Segoe UI Semibold" pitchFamily="34" charset="-122"/>
                <a:cs typeface="Segoe UI Semibold" pitchFamily="34" charset="-120"/>
              </a:rPr>
              <a:t>Team: The Hallucinato</a:t>
            </a:r>
            <a:endParaRPr lang="en-US" sz="1150" dirty="0"/>
          </a:p>
        </p:txBody>
      </p:sp>
      <p:sp>
        <p:nvSpPr>
          <p:cNvPr id="12" name="Shape 9"/>
          <p:cNvSpPr/>
          <p:nvPr/>
        </p:nvSpPr>
        <p:spPr>
          <a:xfrm>
            <a:off x="0" y="6693408"/>
            <a:ext cx="3047238" cy="164592"/>
          </a:xfrm>
          <a:prstGeom prst="rect">
            <a:avLst/>
          </a:prstGeom>
          <a:solidFill>
            <a:srgbClr val="F25022"/>
          </a:solidFill>
          <a:ln/>
        </p:spPr>
      </p:sp>
      <p:sp>
        <p:nvSpPr>
          <p:cNvPr id="13" name="Shape 10"/>
          <p:cNvSpPr/>
          <p:nvPr/>
        </p:nvSpPr>
        <p:spPr>
          <a:xfrm>
            <a:off x="3047238" y="6693408"/>
            <a:ext cx="3047238" cy="164592"/>
          </a:xfrm>
          <a:prstGeom prst="rect">
            <a:avLst/>
          </a:prstGeom>
          <a:solidFill>
            <a:srgbClr val="7FBA00"/>
          </a:solidFill>
          <a:ln/>
        </p:spPr>
      </p:sp>
      <p:sp>
        <p:nvSpPr>
          <p:cNvPr id="14" name="Shape 11"/>
          <p:cNvSpPr/>
          <p:nvPr/>
        </p:nvSpPr>
        <p:spPr>
          <a:xfrm>
            <a:off x="6094476" y="6693408"/>
            <a:ext cx="3047238" cy="164592"/>
          </a:xfrm>
          <a:prstGeom prst="rect">
            <a:avLst/>
          </a:prstGeom>
          <a:solidFill>
            <a:srgbClr val="00A4EF"/>
          </a:solidFill>
          <a:ln/>
        </p:spPr>
      </p:sp>
      <p:sp>
        <p:nvSpPr>
          <p:cNvPr id="15" name="Shape 12"/>
          <p:cNvSpPr/>
          <p:nvPr/>
        </p:nvSpPr>
        <p:spPr>
          <a:xfrm>
            <a:off x="9141714" y="6693408"/>
            <a:ext cx="3047238" cy="164592"/>
          </a:xfrm>
          <a:prstGeom prst="rect">
            <a:avLst/>
          </a:prstGeom>
          <a:solidFill>
            <a:srgbClr val="FFB9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8"/>
        </a:solidFill>
      </p:bgPr>
    </p:bg>
    <p:spTree>
      <p:nvGrpSpPr>
        <p:cNvPr id="1" name=""/>
        <p:cNvGrpSpPr/>
        <p:nvPr/>
      </p:nvGrpSpPr>
      <p:grpSpPr>
        <a:xfrm>
          <a:off x="0" y="0"/>
          <a:ext cx="0" cy="0"/>
          <a:chOff x="0" y="0"/>
          <a:chExt cx="0" cy="0"/>
        </a:xfrm>
      </p:grpSpPr>
      <p:pic>
        <p:nvPicPr>
          <p:cNvPr id="2" name="Image 0" descr="assets/logo_shield.png">    </p:cNvPr>
          <p:cNvPicPr>
            <a:picLocks noChangeAspect="1"/>
          </p:cNvPicPr>
          <p:nvPr/>
        </p:nvPicPr>
        <p:blipFill>
          <a:blip r:embed="rId1"/>
          <a:stretch>
            <a:fillRect/>
          </a:stretch>
        </p:blipFill>
        <p:spPr>
          <a:xfrm>
            <a:off x="457200" y="310896"/>
            <a:ext cx="566928" cy="566928"/>
          </a:xfrm>
          <a:prstGeom prst="rect">
            <a:avLst/>
          </a:prstGeom>
        </p:spPr>
      </p:pic>
      <p:sp>
        <p:nvSpPr>
          <p:cNvPr id="3" name="Text 0"/>
          <p:cNvSpPr/>
          <p:nvPr/>
        </p:nvSpPr>
        <p:spPr>
          <a:xfrm>
            <a:off x="1170432" y="310896"/>
            <a:ext cx="10515600" cy="566928"/>
          </a:xfrm>
          <a:prstGeom prst="rect">
            <a:avLst/>
          </a:prstGeom>
          <a:noFill/>
          <a:ln/>
        </p:spPr>
        <p:txBody>
          <a:bodyPr wrap="square" rtlCol="0" anchor="ctr"/>
          <a:lstStyle/>
          <a:p>
            <a:pPr indent="0" marL="0">
              <a:buNone/>
            </a:pPr>
            <a:r>
              <a:rPr lang="en-US" sz="2600" b="1" dirty="0">
                <a:solidFill>
                  <a:srgbClr val="201F1E"/>
                </a:solidFill>
                <a:latin typeface="Segoe UI Semibold" pitchFamily="34" charset="0"/>
                <a:ea typeface="Segoe UI Semibold" pitchFamily="34" charset="-122"/>
                <a:cs typeface="Segoe UI Semibold" pitchFamily="34" charset="-120"/>
              </a:rPr>
              <a:t>Team &amp; Theme</a:t>
            </a:r>
            <a:endParaRPr lang="en-US" sz="2600" dirty="0"/>
          </a:p>
        </p:txBody>
      </p:sp>
      <p:sp>
        <p:nvSpPr>
          <p:cNvPr id="4" name="Shape 1"/>
          <p:cNvSpPr/>
          <p:nvPr/>
        </p:nvSpPr>
        <p:spPr>
          <a:xfrm>
            <a:off x="1188720" y="969264"/>
            <a:ext cx="109728" cy="64008"/>
          </a:xfrm>
          <a:prstGeom prst="rect">
            <a:avLst/>
          </a:prstGeom>
          <a:solidFill>
            <a:srgbClr val="F25022"/>
          </a:solidFill>
          <a:ln/>
        </p:spPr>
      </p:sp>
      <p:sp>
        <p:nvSpPr>
          <p:cNvPr id="5" name="Shape 2"/>
          <p:cNvSpPr/>
          <p:nvPr/>
        </p:nvSpPr>
        <p:spPr>
          <a:xfrm>
            <a:off x="1335024" y="969264"/>
            <a:ext cx="109728" cy="64008"/>
          </a:xfrm>
          <a:prstGeom prst="rect">
            <a:avLst/>
          </a:prstGeom>
          <a:solidFill>
            <a:srgbClr val="7FBA00"/>
          </a:solidFill>
          <a:ln/>
        </p:spPr>
      </p:sp>
      <p:sp>
        <p:nvSpPr>
          <p:cNvPr id="6" name="Shape 3"/>
          <p:cNvSpPr/>
          <p:nvPr/>
        </p:nvSpPr>
        <p:spPr>
          <a:xfrm>
            <a:off x="1481328" y="969264"/>
            <a:ext cx="109728" cy="64008"/>
          </a:xfrm>
          <a:prstGeom prst="rect">
            <a:avLst/>
          </a:prstGeom>
          <a:solidFill>
            <a:srgbClr val="00A4EF"/>
          </a:solidFill>
          <a:ln/>
        </p:spPr>
      </p:sp>
      <p:sp>
        <p:nvSpPr>
          <p:cNvPr id="7" name="Shape 4"/>
          <p:cNvSpPr/>
          <p:nvPr/>
        </p:nvSpPr>
        <p:spPr>
          <a:xfrm>
            <a:off x="1627632" y="969264"/>
            <a:ext cx="109728" cy="64008"/>
          </a:xfrm>
          <a:prstGeom prst="rect">
            <a:avLst/>
          </a:prstGeom>
          <a:solidFill>
            <a:srgbClr val="FFB900"/>
          </a:solidFill>
          <a:ln/>
        </p:spPr>
      </p:sp>
      <p:sp>
        <p:nvSpPr>
          <p:cNvPr id="8" name="Text 5"/>
          <p:cNvSpPr/>
          <p:nvPr/>
        </p:nvSpPr>
        <p:spPr>
          <a:xfrm>
            <a:off x="457200" y="6355080"/>
            <a:ext cx="9875520" cy="292608"/>
          </a:xfrm>
          <a:prstGeom prst="rect">
            <a:avLst/>
          </a:prstGeom>
          <a:noFill/>
          <a:ln/>
        </p:spPr>
        <p:txBody>
          <a:bodyPr wrap="square" rtlCol="0" anchor="ctr"/>
          <a:lstStyle/>
          <a:p>
            <a:pPr algn="l" indent="0" marL="0">
              <a:buNone/>
            </a:pPr>
            <a:r>
              <a:rPr lang="en-US" sz="900" dirty="0">
                <a:solidFill>
                  <a:srgbClr val="8A8886"/>
                </a:solidFill>
                <a:latin typeface="Segoe UI" pitchFamily="34" charset="0"/>
                <a:ea typeface="Segoe UI" pitchFamily="34" charset="-122"/>
                <a:cs typeface="Segoe UI" pitchFamily="34" charset="-120"/>
              </a:rPr>
              <a:t>The Hallucinato  ·  Microsoft Hackathon — Theme 06: AI-Powered Production Function: Reinventing Work</a:t>
            </a:r>
            <a:endParaRPr lang="en-US" sz="900" dirty="0"/>
          </a:p>
        </p:txBody>
      </p:sp>
      <p:sp>
        <p:nvSpPr>
          <p:cNvPr id="9" name="Text 6"/>
          <p:cNvSpPr/>
          <p:nvPr/>
        </p:nvSpPr>
        <p:spPr>
          <a:xfrm>
            <a:off x="11064240" y="6355080"/>
            <a:ext cx="457200" cy="292608"/>
          </a:xfrm>
          <a:prstGeom prst="rect">
            <a:avLst/>
          </a:prstGeom>
          <a:noFill/>
          <a:ln/>
        </p:spPr>
        <p:txBody>
          <a:bodyPr wrap="square"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2</a:t>
            </a:r>
            <a:endParaRPr lang="en-US" sz="900" dirty="0"/>
          </a:p>
        </p:txBody>
      </p:sp>
      <p:pic>
        <p:nvPicPr>
          <p:cNvPr id="10" name="Image 1" descr="assets/logo_squares.png">    </p:cNvPr>
          <p:cNvPicPr>
            <a:picLocks noChangeAspect="1"/>
          </p:cNvPicPr>
          <p:nvPr/>
        </p:nvPicPr>
        <p:blipFill>
          <a:blip r:embed="rId2"/>
          <a:stretch>
            <a:fillRect/>
          </a:stretch>
        </p:blipFill>
        <p:spPr>
          <a:xfrm>
            <a:off x="11649456" y="6355080"/>
            <a:ext cx="292608" cy="292608"/>
          </a:xfrm>
          <a:prstGeom prst="rect">
            <a:avLst/>
          </a:prstGeom>
        </p:spPr>
      </p:pic>
      <p:sp>
        <p:nvSpPr>
          <p:cNvPr id="11" name="Text 7"/>
          <p:cNvSpPr/>
          <p:nvPr/>
        </p:nvSpPr>
        <p:spPr>
          <a:xfrm>
            <a:off x="548640" y="1325880"/>
            <a:ext cx="4572000" cy="27432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Team name</a:t>
            </a:r>
            <a:endParaRPr lang="en-US" sz="1200" dirty="0"/>
          </a:p>
        </p:txBody>
      </p:sp>
      <p:sp>
        <p:nvSpPr>
          <p:cNvPr id="12" name="Text 8"/>
          <p:cNvSpPr/>
          <p:nvPr/>
        </p:nvSpPr>
        <p:spPr>
          <a:xfrm>
            <a:off x="548640" y="1600200"/>
            <a:ext cx="7315200" cy="548640"/>
          </a:xfrm>
          <a:prstGeom prst="rect">
            <a:avLst/>
          </a:prstGeom>
          <a:noFill/>
          <a:ln/>
        </p:spPr>
        <p:txBody>
          <a:bodyPr wrap="square" rtlCol="0" anchor="ctr"/>
          <a:lstStyle/>
          <a:p>
            <a:pPr indent="0" marL="0">
              <a:buNone/>
            </a:pPr>
            <a:r>
              <a:rPr lang="en-US" sz="3000" b="1" dirty="0">
                <a:solidFill>
                  <a:srgbClr val="201F1E"/>
                </a:solidFill>
                <a:latin typeface="Segoe UI Semibold" pitchFamily="34" charset="0"/>
                <a:ea typeface="Segoe UI Semibold" pitchFamily="34" charset="-122"/>
                <a:cs typeface="Segoe UI Semibold" pitchFamily="34" charset="-120"/>
              </a:rPr>
              <a:t>The Hallucinato</a:t>
            </a:r>
            <a:endParaRPr lang="en-US" sz="3000" dirty="0"/>
          </a:p>
        </p:txBody>
      </p:sp>
      <p:sp>
        <p:nvSpPr>
          <p:cNvPr id="13" name="Shape 9"/>
          <p:cNvSpPr/>
          <p:nvPr/>
        </p:nvSpPr>
        <p:spPr>
          <a:xfrm>
            <a:off x="548640" y="2468880"/>
            <a:ext cx="3657600" cy="1234440"/>
          </a:xfrm>
          <a:prstGeom prst="roundRect">
            <a:avLst>
              <a:gd name="adj" fmla="val 5185"/>
            </a:avLst>
          </a:prstGeom>
          <a:solidFill>
            <a:srgbClr val="FFFFFF"/>
          </a:solidFill>
          <a:ln w="12700">
            <a:solidFill>
              <a:srgbClr val="E1DFDD"/>
            </a:solidFill>
            <a:prstDash val="solid"/>
          </a:ln>
        </p:spPr>
      </p:sp>
      <p:sp>
        <p:nvSpPr>
          <p:cNvPr id="14" name="Shape 10"/>
          <p:cNvSpPr/>
          <p:nvPr/>
        </p:nvSpPr>
        <p:spPr>
          <a:xfrm>
            <a:off x="548640" y="2468880"/>
            <a:ext cx="82296" cy="1234440"/>
          </a:xfrm>
          <a:prstGeom prst="roundRect">
            <a:avLst>
              <a:gd name="adj" fmla="val 44444"/>
            </a:avLst>
          </a:prstGeom>
          <a:solidFill>
            <a:srgbClr val="7FBA00"/>
          </a:solidFill>
          <a:ln/>
        </p:spPr>
      </p:sp>
      <p:sp>
        <p:nvSpPr>
          <p:cNvPr id="15" name="Text 11"/>
          <p:cNvSpPr/>
          <p:nvPr/>
        </p:nvSpPr>
        <p:spPr>
          <a:xfrm>
            <a:off x="822960" y="2651760"/>
            <a:ext cx="3200400" cy="411480"/>
          </a:xfrm>
          <a:prstGeom prst="rect">
            <a:avLst/>
          </a:prstGeom>
          <a:noFill/>
          <a:ln/>
        </p:spPr>
        <p:txBody>
          <a:bodyPr wrap="square" rtlCol="0" anchor="ctr"/>
          <a:lstStyle/>
          <a:p>
            <a:pPr indent="0" marL="0">
              <a:buNone/>
            </a:pPr>
            <a:r>
              <a:rPr lang="en-US" sz="1700" b="1" dirty="0">
                <a:solidFill>
                  <a:srgbClr val="201F1E"/>
                </a:solidFill>
                <a:latin typeface="Segoe UI Semibold" pitchFamily="34" charset="0"/>
                <a:ea typeface="Segoe UI Semibold" pitchFamily="34" charset="-122"/>
                <a:cs typeface="Segoe UI Semibold" pitchFamily="34" charset="-120"/>
              </a:rPr>
              <a:t>Muskan Sirse</a:t>
            </a:r>
            <a:endParaRPr lang="en-US" sz="1700" dirty="0"/>
          </a:p>
        </p:txBody>
      </p:sp>
      <p:sp>
        <p:nvSpPr>
          <p:cNvPr id="16" name="Text 12"/>
          <p:cNvSpPr/>
          <p:nvPr/>
        </p:nvSpPr>
        <p:spPr>
          <a:xfrm>
            <a:off x="822960" y="3072384"/>
            <a:ext cx="3246120" cy="548640"/>
          </a:xfrm>
          <a:prstGeom prst="rect">
            <a:avLst/>
          </a:prstGeom>
          <a:noFill/>
          <a:ln/>
        </p:spPr>
        <p:txBody>
          <a:bodyPr wrap="square" rtlCol="0" anchor="ctr"/>
          <a:lstStyle/>
          <a:p>
            <a:pPr indent="0" marL="0">
              <a:buNone/>
            </a:pPr>
            <a:r>
              <a:rPr lang="en-US" sz="1150" dirty="0">
                <a:solidFill>
                  <a:srgbClr val="605E5C"/>
                </a:solidFill>
                <a:latin typeface="Segoe UI" pitchFamily="34" charset="0"/>
                <a:ea typeface="Segoe UI" pitchFamily="34" charset="-122"/>
                <a:cs typeface="Segoe UI" pitchFamily="34" charset="-120"/>
              </a:rPr>
              <a:t>Co-creator — backend, trust engine &amp; dashboard</a:t>
            </a:r>
            <a:endParaRPr lang="en-US" sz="1150" dirty="0"/>
          </a:p>
        </p:txBody>
      </p:sp>
      <p:sp>
        <p:nvSpPr>
          <p:cNvPr id="17" name="Shape 13"/>
          <p:cNvSpPr/>
          <p:nvPr/>
        </p:nvSpPr>
        <p:spPr>
          <a:xfrm>
            <a:off x="4526280" y="2468880"/>
            <a:ext cx="3657600" cy="1234440"/>
          </a:xfrm>
          <a:prstGeom prst="roundRect">
            <a:avLst>
              <a:gd name="adj" fmla="val 5185"/>
            </a:avLst>
          </a:prstGeom>
          <a:solidFill>
            <a:srgbClr val="FFFFFF"/>
          </a:solidFill>
          <a:ln w="12700">
            <a:solidFill>
              <a:srgbClr val="E1DFDD"/>
            </a:solidFill>
            <a:prstDash val="solid"/>
          </a:ln>
        </p:spPr>
      </p:sp>
      <p:sp>
        <p:nvSpPr>
          <p:cNvPr id="18" name="Shape 14"/>
          <p:cNvSpPr/>
          <p:nvPr/>
        </p:nvSpPr>
        <p:spPr>
          <a:xfrm>
            <a:off x="4526280" y="2468880"/>
            <a:ext cx="82296" cy="1234440"/>
          </a:xfrm>
          <a:prstGeom prst="roundRect">
            <a:avLst>
              <a:gd name="adj" fmla="val 44444"/>
            </a:avLst>
          </a:prstGeom>
          <a:solidFill>
            <a:srgbClr val="00A4EF"/>
          </a:solidFill>
          <a:ln/>
        </p:spPr>
      </p:sp>
      <p:sp>
        <p:nvSpPr>
          <p:cNvPr id="19" name="Text 15"/>
          <p:cNvSpPr/>
          <p:nvPr/>
        </p:nvSpPr>
        <p:spPr>
          <a:xfrm>
            <a:off x="4800600" y="2651760"/>
            <a:ext cx="3200400" cy="411480"/>
          </a:xfrm>
          <a:prstGeom prst="rect">
            <a:avLst/>
          </a:prstGeom>
          <a:noFill/>
          <a:ln/>
        </p:spPr>
        <p:txBody>
          <a:bodyPr wrap="square" rtlCol="0" anchor="ctr"/>
          <a:lstStyle/>
          <a:p>
            <a:pPr indent="0" marL="0">
              <a:buNone/>
            </a:pPr>
            <a:r>
              <a:rPr lang="en-US" sz="1700" b="1" dirty="0">
                <a:solidFill>
                  <a:srgbClr val="201F1E"/>
                </a:solidFill>
                <a:latin typeface="Segoe UI Semibold" pitchFamily="34" charset="0"/>
                <a:ea typeface="Segoe UI Semibold" pitchFamily="34" charset="-122"/>
                <a:cs typeface="Segoe UI Semibold" pitchFamily="34" charset="-120"/>
              </a:rPr>
              <a:t>Yogesh Gurjar</a:t>
            </a:r>
            <a:endParaRPr lang="en-US" sz="1700" dirty="0"/>
          </a:p>
        </p:txBody>
      </p:sp>
      <p:sp>
        <p:nvSpPr>
          <p:cNvPr id="20" name="Text 16"/>
          <p:cNvSpPr/>
          <p:nvPr/>
        </p:nvSpPr>
        <p:spPr>
          <a:xfrm>
            <a:off x="4800600" y="3072384"/>
            <a:ext cx="3246120" cy="548640"/>
          </a:xfrm>
          <a:prstGeom prst="rect">
            <a:avLst/>
          </a:prstGeom>
          <a:noFill/>
          <a:ln/>
        </p:spPr>
        <p:txBody>
          <a:bodyPr wrap="square" rtlCol="0" anchor="ctr"/>
          <a:lstStyle/>
          <a:p>
            <a:pPr indent="0" marL="0">
              <a:buNone/>
            </a:pPr>
            <a:r>
              <a:rPr lang="en-US" sz="1150" dirty="0">
                <a:solidFill>
                  <a:srgbClr val="605E5C"/>
                </a:solidFill>
                <a:latin typeface="Segoe UI" pitchFamily="34" charset="0"/>
                <a:ea typeface="Segoe UI" pitchFamily="34" charset="-122"/>
                <a:cs typeface="Segoe UI" pitchFamily="34" charset="-120"/>
              </a:rPr>
              <a:t>Co-creator — AI pipeline, integrations &amp; DevOps</a:t>
            </a:r>
            <a:endParaRPr lang="en-US" sz="1150" dirty="0"/>
          </a:p>
        </p:txBody>
      </p:sp>
      <p:sp>
        <p:nvSpPr>
          <p:cNvPr id="21" name="Shape 17"/>
          <p:cNvSpPr/>
          <p:nvPr/>
        </p:nvSpPr>
        <p:spPr>
          <a:xfrm>
            <a:off x="8503920" y="2468880"/>
            <a:ext cx="3136392" cy="2743200"/>
          </a:xfrm>
          <a:prstGeom prst="roundRect">
            <a:avLst>
              <a:gd name="adj" fmla="val 2333"/>
            </a:avLst>
          </a:prstGeom>
          <a:solidFill>
            <a:srgbClr val="FFFFFF"/>
          </a:solidFill>
          <a:ln w="12700">
            <a:solidFill>
              <a:srgbClr val="E1DFDD"/>
            </a:solidFill>
            <a:prstDash val="solid"/>
          </a:ln>
        </p:spPr>
      </p:sp>
      <p:sp>
        <p:nvSpPr>
          <p:cNvPr id="22" name="Shape 18"/>
          <p:cNvSpPr/>
          <p:nvPr/>
        </p:nvSpPr>
        <p:spPr>
          <a:xfrm>
            <a:off x="8503920" y="2468880"/>
            <a:ext cx="82296" cy="2743200"/>
          </a:xfrm>
          <a:prstGeom prst="roundRect">
            <a:avLst>
              <a:gd name="adj" fmla="val 44444"/>
            </a:avLst>
          </a:prstGeom>
          <a:solidFill>
            <a:srgbClr val="F25022"/>
          </a:solidFill>
          <a:ln/>
        </p:spPr>
      </p:sp>
      <p:sp>
        <p:nvSpPr>
          <p:cNvPr id="23" name="Text 19"/>
          <p:cNvSpPr/>
          <p:nvPr/>
        </p:nvSpPr>
        <p:spPr>
          <a:xfrm>
            <a:off x="8732520" y="2606040"/>
            <a:ext cx="2743200" cy="274320"/>
          </a:xfrm>
          <a:prstGeom prst="rect">
            <a:avLst/>
          </a:prstGeom>
          <a:noFill/>
          <a:ln/>
        </p:spPr>
        <p:txBody>
          <a:bodyPr wrap="square" rtlCol="0" anchor="ctr"/>
          <a:lstStyle/>
          <a:p>
            <a:pPr indent="0" marL="0">
              <a:buNone/>
            </a:pPr>
            <a:r>
              <a:rPr lang="en-US" sz="1100" b="1" spc="200" kern="0" dirty="0">
                <a:solidFill>
                  <a:srgbClr val="F25022"/>
                </a:solidFill>
                <a:latin typeface="Segoe UI Semibold" pitchFamily="34" charset="0"/>
                <a:ea typeface="Segoe UI Semibold" pitchFamily="34" charset="-122"/>
                <a:cs typeface="Segoe UI Semibold" pitchFamily="34" charset="-120"/>
              </a:rPr>
              <a:t>THEME 06</a:t>
            </a:r>
            <a:endParaRPr lang="en-US" sz="1100" dirty="0"/>
          </a:p>
        </p:txBody>
      </p:sp>
      <p:sp>
        <p:nvSpPr>
          <p:cNvPr id="24" name="Text 20"/>
          <p:cNvSpPr/>
          <p:nvPr/>
        </p:nvSpPr>
        <p:spPr>
          <a:xfrm>
            <a:off x="8732520" y="2880360"/>
            <a:ext cx="2743200" cy="868680"/>
          </a:xfrm>
          <a:prstGeom prst="rect">
            <a:avLst/>
          </a:prstGeom>
          <a:noFill/>
          <a:ln/>
        </p:spPr>
        <p:txBody>
          <a:bodyPr wrap="square" rtlCol="0" anchor="t"/>
          <a:lstStyle/>
          <a:p>
            <a:pPr indent="0" marL="0">
              <a:lnSpc>
                <a:spcPct val="95000"/>
              </a:lnSpc>
              <a:buNone/>
            </a:pPr>
            <a:r>
              <a:rPr lang="en-US" sz="1900" b="1" dirty="0">
                <a:solidFill>
                  <a:srgbClr val="201F1E"/>
                </a:solidFill>
                <a:latin typeface="Segoe UI Semibold" pitchFamily="34" charset="0"/>
                <a:ea typeface="Segoe UI Semibold" pitchFamily="34" charset="-122"/>
                <a:cs typeface="Segoe UI Semibold" pitchFamily="34" charset="-120"/>
              </a:rPr>
              <a:t>AI-Powered Production Function</a:t>
            </a:r>
            <a:endParaRPr lang="en-US" sz="1900" dirty="0"/>
          </a:p>
        </p:txBody>
      </p:sp>
      <p:sp>
        <p:nvSpPr>
          <p:cNvPr id="25" name="Text 21"/>
          <p:cNvSpPr/>
          <p:nvPr/>
        </p:nvSpPr>
        <p:spPr>
          <a:xfrm>
            <a:off x="8732520" y="3767328"/>
            <a:ext cx="2743200" cy="365760"/>
          </a:xfrm>
          <a:prstGeom prst="rect">
            <a:avLst/>
          </a:prstGeom>
          <a:noFill/>
          <a:ln/>
        </p:spPr>
        <p:txBody>
          <a:bodyPr wrap="square" rtlCol="0" anchor="ctr"/>
          <a:lstStyle/>
          <a:p>
            <a:pPr indent="0" marL="0">
              <a:buNone/>
            </a:pPr>
            <a:r>
              <a:rPr lang="en-US" sz="1400" b="1" i="1" dirty="0">
                <a:solidFill>
                  <a:srgbClr val="005A9E"/>
                </a:solidFill>
                <a:latin typeface="Segoe UI Semibold" pitchFamily="34" charset="0"/>
                <a:ea typeface="Segoe UI Semibold" pitchFamily="34" charset="-122"/>
                <a:cs typeface="Segoe UI Semibold" pitchFamily="34" charset="-120"/>
              </a:rPr>
              <a:t>Reinventing Work</a:t>
            </a:r>
            <a:endParaRPr lang="en-US" sz="1400" dirty="0"/>
          </a:p>
        </p:txBody>
      </p:sp>
      <p:sp>
        <p:nvSpPr>
          <p:cNvPr id="26" name="Text 22"/>
          <p:cNvSpPr/>
          <p:nvPr/>
        </p:nvSpPr>
        <p:spPr>
          <a:xfrm>
            <a:off x="8732520" y="4206240"/>
            <a:ext cx="2743200" cy="914400"/>
          </a:xfrm>
          <a:prstGeom prst="rect">
            <a:avLst/>
          </a:prstGeom>
          <a:noFill/>
          <a:ln/>
        </p:spPr>
        <p:txBody>
          <a:bodyPr wrap="square" rtlCol="0" anchor="t"/>
          <a:lstStyle/>
          <a:p>
            <a:pPr indent="0" marL="0">
              <a:buNone/>
            </a:pPr>
            <a:r>
              <a:rPr lang="en-US" sz="1100" dirty="0">
                <a:solidFill>
                  <a:srgbClr val="605E5C"/>
                </a:solidFill>
                <a:latin typeface="Segoe UI" pitchFamily="34" charset="0"/>
                <a:ea typeface="Segoe UI" pitchFamily="34" charset="-122"/>
                <a:cs typeface="Segoe UI" pitchFamily="34" charset="-120"/>
              </a:rPr>
              <a:t>Automated quality intelligence between “ready” and “deploy”.</a:t>
            </a:r>
            <a:endParaRPr lang="en-US" sz="1100" dirty="0"/>
          </a:p>
        </p:txBody>
      </p:sp>
      <p:sp>
        <p:nvSpPr>
          <p:cNvPr id="27" name="Text 23"/>
          <p:cNvSpPr/>
          <p:nvPr/>
        </p:nvSpPr>
        <p:spPr>
          <a:xfrm>
            <a:off x="548640" y="4023360"/>
            <a:ext cx="7680960" cy="1097280"/>
          </a:xfrm>
          <a:prstGeom prst="rect">
            <a:avLst/>
          </a:prstGeom>
          <a:noFill/>
          <a:ln/>
        </p:spPr>
        <p:txBody>
          <a:bodyPr wrap="square" rtlCol="0" anchor="t"/>
          <a:lstStyle/>
          <a:p>
            <a:pPr indent="0" marL="0">
              <a:buNone/>
            </a:pPr>
            <a:r>
              <a:rPr lang="en-US" sz="1300" i="1" dirty="0">
                <a:solidFill>
                  <a:srgbClr val="005A9E"/>
                </a:solidFill>
                <a:latin typeface="Segoe UI" pitchFamily="34" charset="0"/>
                <a:ea typeface="Segoe UI" pitchFamily="34" charset="-122"/>
                <a:cs typeface="Segoe UI" pitchFamily="34" charset="-120"/>
              </a:rPr>
              <a:t>One-line pitch:  an adaptive, self-learning quality gate that routes AI review depth by developer trust and blocks unsafe merges — automatically and explainably.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8"/>
        </a:solidFill>
      </p:bgPr>
    </p:bg>
    <p:spTree>
      <p:nvGrpSpPr>
        <p:cNvPr id="1" name=""/>
        <p:cNvGrpSpPr/>
        <p:nvPr/>
      </p:nvGrpSpPr>
      <p:grpSpPr>
        <a:xfrm>
          <a:off x="0" y="0"/>
          <a:ext cx="0" cy="0"/>
          <a:chOff x="0" y="0"/>
          <a:chExt cx="0" cy="0"/>
        </a:xfrm>
      </p:grpSpPr>
      <p:pic>
        <p:nvPicPr>
          <p:cNvPr id="2" name="Image 0" descr="assets/logo_shield.png">    </p:cNvPr>
          <p:cNvPicPr>
            <a:picLocks noChangeAspect="1"/>
          </p:cNvPicPr>
          <p:nvPr/>
        </p:nvPicPr>
        <p:blipFill>
          <a:blip r:embed="rId1"/>
          <a:stretch>
            <a:fillRect/>
          </a:stretch>
        </p:blipFill>
        <p:spPr>
          <a:xfrm>
            <a:off x="457200" y="310896"/>
            <a:ext cx="566928" cy="566928"/>
          </a:xfrm>
          <a:prstGeom prst="rect">
            <a:avLst/>
          </a:prstGeom>
        </p:spPr>
      </p:pic>
      <p:sp>
        <p:nvSpPr>
          <p:cNvPr id="3" name="Text 0"/>
          <p:cNvSpPr/>
          <p:nvPr/>
        </p:nvSpPr>
        <p:spPr>
          <a:xfrm>
            <a:off x="1170432" y="310896"/>
            <a:ext cx="10515600" cy="566928"/>
          </a:xfrm>
          <a:prstGeom prst="rect">
            <a:avLst/>
          </a:prstGeom>
          <a:noFill/>
          <a:ln/>
        </p:spPr>
        <p:txBody>
          <a:bodyPr wrap="square" rtlCol="0" anchor="ctr"/>
          <a:lstStyle/>
          <a:p>
            <a:pPr indent="0" marL="0">
              <a:buNone/>
            </a:pPr>
            <a:r>
              <a:rPr lang="en-US" sz="2600" b="1" dirty="0">
                <a:solidFill>
                  <a:srgbClr val="201F1E"/>
                </a:solidFill>
                <a:latin typeface="Segoe UI Semibold" pitchFamily="34" charset="0"/>
                <a:ea typeface="Segoe UI Semibold" pitchFamily="34" charset="-122"/>
                <a:cs typeface="Segoe UI Semibold" pitchFamily="34" charset="-120"/>
              </a:rPr>
              <a:t>Problem Statement</a:t>
            </a:r>
            <a:endParaRPr lang="en-US" sz="2600" dirty="0"/>
          </a:p>
        </p:txBody>
      </p:sp>
      <p:sp>
        <p:nvSpPr>
          <p:cNvPr id="4" name="Shape 1"/>
          <p:cNvSpPr/>
          <p:nvPr/>
        </p:nvSpPr>
        <p:spPr>
          <a:xfrm>
            <a:off x="1188720" y="969264"/>
            <a:ext cx="109728" cy="64008"/>
          </a:xfrm>
          <a:prstGeom prst="rect">
            <a:avLst/>
          </a:prstGeom>
          <a:solidFill>
            <a:srgbClr val="F25022"/>
          </a:solidFill>
          <a:ln/>
        </p:spPr>
      </p:sp>
      <p:sp>
        <p:nvSpPr>
          <p:cNvPr id="5" name="Shape 2"/>
          <p:cNvSpPr/>
          <p:nvPr/>
        </p:nvSpPr>
        <p:spPr>
          <a:xfrm>
            <a:off x="1335024" y="969264"/>
            <a:ext cx="109728" cy="64008"/>
          </a:xfrm>
          <a:prstGeom prst="rect">
            <a:avLst/>
          </a:prstGeom>
          <a:solidFill>
            <a:srgbClr val="7FBA00"/>
          </a:solidFill>
          <a:ln/>
        </p:spPr>
      </p:sp>
      <p:sp>
        <p:nvSpPr>
          <p:cNvPr id="6" name="Shape 3"/>
          <p:cNvSpPr/>
          <p:nvPr/>
        </p:nvSpPr>
        <p:spPr>
          <a:xfrm>
            <a:off x="1481328" y="969264"/>
            <a:ext cx="109728" cy="64008"/>
          </a:xfrm>
          <a:prstGeom prst="rect">
            <a:avLst/>
          </a:prstGeom>
          <a:solidFill>
            <a:srgbClr val="00A4EF"/>
          </a:solidFill>
          <a:ln/>
        </p:spPr>
      </p:sp>
      <p:sp>
        <p:nvSpPr>
          <p:cNvPr id="7" name="Shape 4"/>
          <p:cNvSpPr/>
          <p:nvPr/>
        </p:nvSpPr>
        <p:spPr>
          <a:xfrm>
            <a:off x="1627632" y="969264"/>
            <a:ext cx="109728" cy="64008"/>
          </a:xfrm>
          <a:prstGeom prst="rect">
            <a:avLst/>
          </a:prstGeom>
          <a:solidFill>
            <a:srgbClr val="FFB900"/>
          </a:solidFill>
          <a:ln/>
        </p:spPr>
      </p:sp>
      <p:sp>
        <p:nvSpPr>
          <p:cNvPr id="8" name="Text 5"/>
          <p:cNvSpPr/>
          <p:nvPr/>
        </p:nvSpPr>
        <p:spPr>
          <a:xfrm>
            <a:off x="457200" y="6355080"/>
            <a:ext cx="9875520" cy="292608"/>
          </a:xfrm>
          <a:prstGeom prst="rect">
            <a:avLst/>
          </a:prstGeom>
          <a:noFill/>
          <a:ln/>
        </p:spPr>
        <p:txBody>
          <a:bodyPr wrap="square" rtlCol="0" anchor="ctr"/>
          <a:lstStyle/>
          <a:p>
            <a:pPr algn="l" indent="0" marL="0">
              <a:buNone/>
            </a:pPr>
            <a:r>
              <a:rPr lang="en-US" sz="900" dirty="0">
                <a:solidFill>
                  <a:srgbClr val="8A8886"/>
                </a:solidFill>
                <a:latin typeface="Segoe UI" pitchFamily="34" charset="0"/>
                <a:ea typeface="Segoe UI" pitchFamily="34" charset="-122"/>
                <a:cs typeface="Segoe UI" pitchFamily="34" charset="-120"/>
              </a:rPr>
              <a:t>The Hallucinato  ·  Microsoft Hackathon — Theme 06: AI-Powered Production Function: Reinventing Work</a:t>
            </a:r>
            <a:endParaRPr lang="en-US" sz="900" dirty="0"/>
          </a:p>
        </p:txBody>
      </p:sp>
      <p:sp>
        <p:nvSpPr>
          <p:cNvPr id="9" name="Text 6"/>
          <p:cNvSpPr/>
          <p:nvPr/>
        </p:nvSpPr>
        <p:spPr>
          <a:xfrm>
            <a:off x="11064240" y="6355080"/>
            <a:ext cx="457200" cy="292608"/>
          </a:xfrm>
          <a:prstGeom prst="rect">
            <a:avLst/>
          </a:prstGeom>
          <a:noFill/>
          <a:ln/>
        </p:spPr>
        <p:txBody>
          <a:bodyPr wrap="square"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3</a:t>
            </a:r>
            <a:endParaRPr lang="en-US" sz="900" dirty="0"/>
          </a:p>
        </p:txBody>
      </p:sp>
      <p:pic>
        <p:nvPicPr>
          <p:cNvPr id="10" name="Image 1" descr="assets/logo_squares.png">    </p:cNvPr>
          <p:cNvPicPr>
            <a:picLocks noChangeAspect="1"/>
          </p:cNvPicPr>
          <p:nvPr/>
        </p:nvPicPr>
        <p:blipFill>
          <a:blip r:embed="rId2"/>
          <a:stretch>
            <a:fillRect/>
          </a:stretch>
        </p:blipFill>
        <p:spPr>
          <a:xfrm>
            <a:off x="11649456" y="6355080"/>
            <a:ext cx="292608" cy="292608"/>
          </a:xfrm>
          <a:prstGeom prst="rect">
            <a:avLst/>
          </a:prstGeom>
        </p:spPr>
      </p:pic>
      <p:sp>
        <p:nvSpPr>
          <p:cNvPr id="11" name="Shape 7"/>
          <p:cNvSpPr/>
          <p:nvPr/>
        </p:nvSpPr>
        <p:spPr>
          <a:xfrm>
            <a:off x="548640" y="1280160"/>
            <a:ext cx="3429000" cy="1143000"/>
          </a:xfrm>
          <a:prstGeom prst="roundRect">
            <a:avLst>
              <a:gd name="adj" fmla="val 5600"/>
            </a:avLst>
          </a:prstGeom>
          <a:solidFill>
            <a:srgbClr val="FFFFFF"/>
          </a:solidFill>
          <a:ln w="12700">
            <a:solidFill>
              <a:srgbClr val="E1DFDD"/>
            </a:solidFill>
            <a:prstDash val="solid"/>
          </a:ln>
        </p:spPr>
      </p:sp>
      <p:sp>
        <p:nvSpPr>
          <p:cNvPr id="12" name="Shape 8"/>
          <p:cNvSpPr/>
          <p:nvPr/>
        </p:nvSpPr>
        <p:spPr>
          <a:xfrm>
            <a:off x="548640" y="1280160"/>
            <a:ext cx="82296" cy="1143000"/>
          </a:xfrm>
          <a:prstGeom prst="roundRect">
            <a:avLst>
              <a:gd name="adj" fmla="val 44444"/>
            </a:avLst>
          </a:prstGeom>
          <a:solidFill>
            <a:srgbClr val="F25022"/>
          </a:solidFill>
          <a:ln/>
        </p:spPr>
      </p:sp>
      <p:sp>
        <p:nvSpPr>
          <p:cNvPr id="13" name="Text 9"/>
          <p:cNvSpPr/>
          <p:nvPr/>
        </p:nvSpPr>
        <p:spPr>
          <a:xfrm>
            <a:off x="804672" y="1371600"/>
            <a:ext cx="3108960" cy="502920"/>
          </a:xfrm>
          <a:prstGeom prst="rect">
            <a:avLst/>
          </a:prstGeom>
          <a:noFill/>
          <a:ln/>
        </p:spPr>
        <p:txBody>
          <a:bodyPr wrap="square" rtlCol="0" anchor="ctr"/>
          <a:lstStyle/>
          <a:p>
            <a:pPr indent="0" marL="0">
              <a:buNone/>
            </a:pPr>
            <a:r>
              <a:rPr lang="en-US" sz="2600" b="1" dirty="0">
                <a:solidFill>
                  <a:srgbClr val="201F1E"/>
                </a:solidFill>
                <a:latin typeface="Segoe UI Semibold" pitchFamily="34" charset="0"/>
                <a:ea typeface="Segoe UI Semibold" pitchFamily="34" charset="-122"/>
                <a:cs typeface="Segoe UI Semibold" pitchFamily="34" charset="-120"/>
              </a:rPr>
              <a:t>2–3 days</a:t>
            </a:r>
            <a:endParaRPr lang="en-US" sz="2600" dirty="0"/>
          </a:p>
        </p:txBody>
      </p:sp>
      <p:sp>
        <p:nvSpPr>
          <p:cNvPr id="14" name="Text 10"/>
          <p:cNvSpPr/>
          <p:nvPr/>
        </p:nvSpPr>
        <p:spPr>
          <a:xfrm>
            <a:off x="804672" y="1874520"/>
            <a:ext cx="3154680" cy="502920"/>
          </a:xfrm>
          <a:prstGeom prst="rect">
            <a:avLst/>
          </a:prstGeom>
          <a:noFill/>
          <a:ln/>
        </p:spPr>
        <p:txBody>
          <a:bodyPr wrap="square" rtlCol="0" anchor="ctr"/>
          <a:lstStyle/>
          <a:p>
            <a:pPr indent="0" marL="0">
              <a:buNone/>
            </a:pPr>
            <a:r>
              <a:rPr lang="en-US" sz="1150" dirty="0">
                <a:solidFill>
                  <a:srgbClr val="605E5C"/>
                </a:solidFill>
                <a:latin typeface="Segoe UI" pitchFamily="34" charset="0"/>
                <a:ea typeface="Segoe UI" pitchFamily="34" charset="-122"/>
                <a:cs typeface="Segoe UI" pitchFamily="34" charset="-120"/>
              </a:rPr>
              <a:t>typical PR review wait</a:t>
            </a:r>
            <a:endParaRPr lang="en-US" sz="1150" dirty="0"/>
          </a:p>
        </p:txBody>
      </p:sp>
      <p:sp>
        <p:nvSpPr>
          <p:cNvPr id="15" name="Shape 11"/>
          <p:cNvSpPr/>
          <p:nvPr/>
        </p:nvSpPr>
        <p:spPr>
          <a:xfrm>
            <a:off x="4270248" y="1280160"/>
            <a:ext cx="3429000" cy="1143000"/>
          </a:xfrm>
          <a:prstGeom prst="roundRect">
            <a:avLst>
              <a:gd name="adj" fmla="val 5600"/>
            </a:avLst>
          </a:prstGeom>
          <a:solidFill>
            <a:srgbClr val="FFFFFF"/>
          </a:solidFill>
          <a:ln w="12700">
            <a:solidFill>
              <a:srgbClr val="E1DFDD"/>
            </a:solidFill>
            <a:prstDash val="solid"/>
          </a:ln>
        </p:spPr>
      </p:sp>
      <p:sp>
        <p:nvSpPr>
          <p:cNvPr id="16" name="Shape 12"/>
          <p:cNvSpPr/>
          <p:nvPr/>
        </p:nvSpPr>
        <p:spPr>
          <a:xfrm>
            <a:off x="4270248" y="1280160"/>
            <a:ext cx="82296" cy="1143000"/>
          </a:xfrm>
          <a:prstGeom prst="roundRect">
            <a:avLst>
              <a:gd name="adj" fmla="val 44444"/>
            </a:avLst>
          </a:prstGeom>
          <a:solidFill>
            <a:srgbClr val="FFB900"/>
          </a:solidFill>
          <a:ln/>
        </p:spPr>
      </p:sp>
      <p:sp>
        <p:nvSpPr>
          <p:cNvPr id="17" name="Text 13"/>
          <p:cNvSpPr/>
          <p:nvPr/>
        </p:nvSpPr>
        <p:spPr>
          <a:xfrm>
            <a:off x="4526280" y="1371600"/>
            <a:ext cx="3108960" cy="502920"/>
          </a:xfrm>
          <a:prstGeom prst="rect">
            <a:avLst/>
          </a:prstGeom>
          <a:noFill/>
          <a:ln/>
        </p:spPr>
        <p:txBody>
          <a:bodyPr wrap="square" rtlCol="0" anchor="ctr"/>
          <a:lstStyle/>
          <a:p>
            <a:pPr indent="0" marL="0">
              <a:buNone/>
            </a:pPr>
            <a:r>
              <a:rPr lang="en-US" sz="2600" b="1" dirty="0">
                <a:solidFill>
                  <a:srgbClr val="201F1E"/>
                </a:solidFill>
                <a:latin typeface="Segoe UI Semibold" pitchFamily="34" charset="0"/>
                <a:ea typeface="Segoe UI Semibold" pitchFamily="34" charset="-122"/>
                <a:cs typeface="Segoe UI Semibold" pitchFamily="34" charset="-120"/>
              </a:rPr>
              <a:t>1 depth</a:t>
            </a:r>
            <a:endParaRPr lang="en-US" sz="2600" dirty="0"/>
          </a:p>
        </p:txBody>
      </p:sp>
      <p:sp>
        <p:nvSpPr>
          <p:cNvPr id="18" name="Text 14"/>
          <p:cNvSpPr/>
          <p:nvPr/>
        </p:nvSpPr>
        <p:spPr>
          <a:xfrm>
            <a:off x="4526280" y="1874520"/>
            <a:ext cx="3154680" cy="502920"/>
          </a:xfrm>
          <a:prstGeom prst="rect">
            <a:avLst/>
          </a:prstGeom>
          <a:noFill/>
          <a:ln/>
        </p:spPr>
        <p:txBody>
          <a:bodyPr wrap="square" rtlCol="0" anchor="ctr"/>
          <a:lstStyle/>
          <a:p>
            <a:pPr indent="0" marL="0">
              <a:buNone/>
            </a:pPr>
            <a:r>
              <a:rPr lang="en-US" sz="1150" dirty="0">
                <a:solidFill>
                  <a:srgbClr val="605E5C"/>
                </a:solidFill>
                <a:latin typeface="Segoe UI" pitchFamily="34" charset="0"/>
                <a:ea typeface="Segoe UI" pitchFamily="34" charset="-122"/>
                <a:cs typeface="Segoe UI" pitchFamily="34" charset="-120"/>
              </a:rPr>
              <a:t>same scrutiny for every PR, every author</a:t>
            </a:r>
            <a:endParaRPr lang="en-US" sz="1150" dirty="0"/>
          </a:p>
        </p:txBody>
      </p:sp>
      <p:sp>
        <p:nvSpPr>
          <p:cNvPr id="19" name="Shape 15"/>
          <p:cNvSpPr/>
          <p:nvPr/>
        </p:nvSpPr>
        <p:spPr>
          <a:xfrm>
            <a:off x="7991856" y="1280160"/>
            <a:ext cx="3429000" cy="1143000"/>
          </a:xfrm>
          <a:prstGeom prst="roundRect">
            <a:avLst>
              <a:gd name="adj" fmla="val 5600"/>
            </a:avLst>
          </a:prstGeom>
          <a:solidFill>
            <a:srgbClr val="FFFFFF"/>
          </a:solidFill>
          <a:ln w="12700">
            <a:solidFill>
              <a:srgbClr val="E1DFDD"/>
            </a:solidFill>
            <a:prstDash val="solid"/>
          </a:ln>
        </p:spPr>
      </p:sp>
      <p:sp>
        <p:nvSpPr>
          <p:cNvPr id="20" name="Shape 16"/>
          <p:cNvSpPr/>
          <p:nvPr/>
        </p:nvSpPr>
        <p:spPr>
          <a:xfrm>
            <a:off x="7991856" y="1280160"/>
            <a:ext cx="82296" cy="1143000"/>
          </a:xfrm>
          <a:prstGeom prst="roundRect">
            <a:avLst>
              <a:gd name="adj" fmla="val 44444"/>
            </a:avLst>
          </a:prstGeom>
          <a:solidFill>
            <a:srgbClr val="00A4EF"/>
          </a:solidFill>
          <a:ln/>
        </p:spPr>
      </p:sp>
      <p:sp>
        <p:nvSpPr>
          <p:cNvPr id="21" name="Text 17"/>
          <p:cNvSpPr/>
          <p:nvPr/>
        </p:nvSpPr>
        <p:spPr>
          <a:xfrm>
            <a:off x="8247888" y="1371600"/>
            <a:ext cx="3108960" cy="502920"/>
          </a:xfrm>
          <a:prstGeom prst="rect">
            <a:avLst/>
          </a:prstGeom>
          <a:noFill/>
          <a:ln/>
        </p:spPr>
        <p:txBody>
          <a:bodyPr wrap="square" rtlCol="0" anchor="ctr"/>
          <a:lstStyle/>
          <a:p>
            <a:pPr indent="0" marL="0">
              <a:buNone/>
            </a:pPr>
            <a:r>
              <a:rPr lang="en-US" sz="2600" b="1" dirty="0">
                <a:solidFill>
                  <a:srgbClr val="201F1E"/>
                </a:solidFill>
                <a:latin typeface="Segoe UI Semibold" pitchFamily="34" charset="0"/>
                <a:ea typeface="Segoe UI Semibold" pitchFamily="34" charset="-122"/>
                <a:cs typeface="Segoe UI Semibold" pitchFamily="34" charset="-120"/>
              </a:rPr>
              <a:t>Generic</a:t>
            </a:r>
            <a:endParaRPr lang="en-US" sz="2600" dirty="0"/>
          </a:p>
        </p:txBody>
      </p:sp>
      <p:sp>
        <p:nvSpPr>
          <p:cNvPr id="22" name="Text 18"/>
          <p:cNvSpPr/>
          <p:nvPr/>
        </p:nvSpPr>
        <p:spPr>
          <a:xfrm>
            <a:off x="8247888" y="1874520"/>
            <a:ext cx="3154680" cy="502920"/>
          </a:xfrm>
          <a:prstGeom prst="rect">
            <a:avLst/>
          </a:prstGeom>
          <a:noFill/>
          <a:ln/>
        </p:spPr>
        <p:txBody>
          <a:bodyPr wrap="square" rtlCol="0" anchor="ctr"/>
          <a:lstStyle/>
          <a:p>
            <a:pPr indent="0" marL="0">
              <a:buNone/>
            </a:pPr>
            <a:r>
              <a:rPr lang="en-US" sz="1150" dirty="0">
                <a:solidFill>
                  <a:srgbClr val="605E5C"/>
                </a:solidFill>
                <a:latin typeface="Segoe UI" pitchFamily="34" charset="0"/>
                <a:ea typeface="Segoe UI" pitchFamily="34" charset="-122"/>
                <a:cs typeface="Segoe UI" pitchFamily="34" charset="-120"/>
              </a:rPr>
              <a:t>rules flag “best practice”, not YOUR patterns</a:t>
            </a:r>
            <a:endParaRPr lang="en-US" sz="1150" dirty="0"/>
          </a:p>
        </p:txBody>
      </p:sp>
      <p:sp>
        <p:nvSpPr>
          <p:cNvPr id="23" name="Shape 19"/>
          <p:cNvSpPr/>
          <p:nvPr/>
        </p:nvSpPr>
        <p:spPr>
          <a:xfrm>
            <a:off x="548640" y="2606040"/>
            <a:ext cx="11091672" cy="3520440"/>
          </a:xfrm>
          <a:prstGeom prst="roundRect">
            <a:avLst>
              <a:gd name="adj" fmla="val 1818"/>
            </a:avLst>
          </a:prstGeom>
          <a:solidFill>
            <a:srgbClr val="FFFFFF"/>
          </a:solidFill>
          <a:ln w="12700">
            <a:solidFill>
              <a:srgbClr val="E1DFDD"/>
            </a:solidFill>
            <a:prstDash val="solid"/>
          </a:ln>
        </p:spPr>
      </p:sp>
      <p:sp>
        <p:nvSpPr>
          <p:cNvPr id="24" name="Text 20"/>
          <p:cNvSpPr/>
          <p:nvPr/>
        </p:nvSpPr>
        <p:spPr>
          <a:xfrm>
            <a:off x="822960" y="2743200"/>
            <a:ext cx="10515600" cy="3246120"/>
          </a:xfrm>
          <a:prstGeom prst="rect">
            <a:avLst/>
          </a:prstGeom>
          <a:noFill/>
          <a:ln/>
        </p:spPr>
        <p:txBody>
          <a:bodyPr wrap="square" rtlCol="0" anchor="t"/>
          <a:lstStyle/>
          <a:p>
            <a:pPr indent="0" marL="0">
              <a:lnSpc>
                <a:spcPct val="106000"/>
              </a:lnSpc>
              <a:spcAft>
                <a:spcPts val="600"/>
              </a:spcAft>
              <a:buNone/>
            </a:pPr>
            <a:r>
              <a:rPr lang="en-US" sz="1250" dirty="0">
                <a:solidFill>
                  <a:srgbClr val="201F1E"/>
                </a:solidFill>
                <a:latin typeface="Segoe UI" pitchFamily="34" charset="0"/>
                <a:ea typeface="Segoe UI" pitchFamily="34" charset="-122"/>
                <a:cs typeface="Segoe UI" pitchFamily="34" charset="-120"/>
              </a:rPr>
              <a:t>Modern teams ship through CI/CD, yet the gap between “code is ready” and “code is safe to deploy” is still guarded mostly by humans. Pull requests wait two to three days for review; reviewers are inconsistent and fatigued; and generic AI reviewers treat every change identically — applying the same shallow checks to a senior engineer's one-line fix and a new joiner's authentication rewrite.</a:t>
            </a:r>
            <a:endParaRPr lang="en-US" sz="1250" dirty="0"/>
          </a:p>
          <a:p>
            <a:pPr indent="0" marL="0">
              <a:lnSpc>
                <a:spcPct val="106000"/>
              </a:lnSpc>
              <a:spcAft>
                <a:spcPts val="600"/>
              </a:spcAft>
              <a:buNone/>
            </a:pPr>
            <a:endParaRPr lang="en-US" sz="1250" dirty="0"/>
          </a:p>
          <a:p>
            <a:pPr indent="0" marL="0">
              <a:lnSpc>
                <a:spcPct val="106000"/>
              </a:lnSpc>
              <a:spcAft>
                <a:spcPts val="600"/>
              </a:spcAft>
              <a:buNone/>
            </a:pPr>
            <a:r>
              <a:rPr lang="en-US" sz="1250" dirty="0">
                <a:solidFill>
                  <a:srgbClr val="201F1E"/>
                </a:solidFill>
                <a:latin typeface="Segoe UI" pitchFamily="34" charset="0"/>
                <a:ea typeface="Segoe UI" pitchFamily="34" charset="-122"/>
                <a:cs typeface="Segoe UI" pitchFamily="34" charset="-120"/>
              </a:rPr>
              <a:t>The result is twofold waste: trusted developers are slowed by needless friction, while genuinely risky changes slip through without the deep scrutiny they need. Security defects — SQL injection, hardcoded secrets, weak cryptography, disabled TLS — reach production because no automated layer understands WHO wrote the change, HOW risky their recent history is, or whether the code even matches the team's own conventions. Tools rely on generic rule sets that flag violations of “best practice” rather than of THIS team's actual patterns, producing noise teams learn to ignore.</a:t>
            </a:r>
            <a:endParaRPr lang="en-US" sz="1250" dirty="0"/>
          </a:p>
          <a:p>
            <a:pPr indent="0" marL="0">
              <a:lnSpc>
                <a:spcPct val="106000"/>
              </a:lnSpc>
              <a:spcAft>
                <a:spcPts val="600"/>
              </a:spcAft>
              <a:buNone/>
            </a:pPr>
            <a:endParaRPr lang="en-US" sz="1250" dirty="0"/>
          </a:p>
          <a:p>
            <a:pPr indent="0" marL="0">
              <a:lnSpc>
                <a:spcPct val="106000"/>
              </a:lnSpc>
              <a:spcAft>
                <a:spcPts val="600"/>
              </a:spcAft>
              <a:buNone/>
            </a:pPr>
            <a:r>
              <a:rPr lang="en-US" sz="1250" dirty="0">
                <a:solidFill>
                  <a:srgbClr val="201F1E"/>
                </a:solidFill>
                <a:latin typeface="Segoe UI" pitchFamily="34" charset="0"/>
                <a:ea typeface="Segoe UI" pitchFamily="34" charset="-122"/>
                <a:cs typeface="Segoe UI" pitchFamily="34" charset="-120"/>
              </a:rPr>
              <a:t>There is no stateful, per-developer intelligence between the pull request and the deploy gate that adapts review depth to risk, learns a codebase's unique “DNA”, and blocks unsafe merges automatically — while staying explainable enough that engineers trust it. DevGuardian targets exactly this gap.</a:t>
            </a:r>
            <a:endParaRPr lang="en-US" sz="1250" dirty="0"/>
          </a:p>
        </p:txBody>
      </p:sp>
      <p:sp>
        <p:nvSpPr>
          <p:cNvPr id="25" name="Text 21"/>
          <p:cNvSpPr/>
          <p:nvPr/>
        </p:nvSpPr>
        <p:spPr>
          <a:xfrm>
            <a:off x="9966960" y="5989320"/>
            <a:ext cx="1463040" cy="228600"/>
          </a:xfrm>
          <a:prstGeom prst="rect">
            <a:avLst/>
          </a:prstGeom>
          <a:noFill/>
          <a:ln/>
        </p:spPr>
        <p:txBody>
          <a:bodyPr wrap="square" rtlCol="0" anchor="ctr"/>
          <a:lstStyle/>
          <a:p>
            <a:pPr algn="r" indent="0" marL="0">
              <a:buNone/>
            </a:pPr>
            <a:r>
              <a:rPr lang="en-US" sz="900" i="1" dirty="0">
                <a:solidFill>
                  <a:srgbClr val="8A8886"/>
                </a:solidFill>
                <a:latin typeface="Segoe UI" pitchFamily="34" charset="0"/>
                <a:ea typeface="Segoe UI" pitchFamily="34" charset="-122"/>
                <a:cs typeface="Segoe UI" pitchFamily="34" charset="-120"/>
              </a:rPr>
              <a:t>≈ 235 words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8"/>
        </a:solidFill>
      </p:bgPr>
    </p:bg>
    <p:spTree>
      <p:nvGrpSpPr>
        <p:cNvPr id="1" name=""/>
        <p:cNvGrpSpPr/>
        <p:nvPr/>
      </p:nvGrpSpPr>
      <p:grpSpPr>
        <a:xfrm>
          <a:off x="0" y="0"/>
          <a:ext cx="0" cy="0"/>
          <a:chOff x="0" y="0"/>
          <a:chExt cx="0" cy="0"/>
        </a:xfrm>
      </p:grpSpPr>
      <p:pic>
        <p:nvPicPr>
          <p:cNvPr id="2" name="Image 0" descr="assets/logo_shield.png">    </p:cNvPr>
          <p:cNvPicPr>
            <a:picLocks noChangeAspect="1"/>
          </p:cNvPicPr>
          <p:nvPr/>
        </p:nvPicPr>
        <p:blipFill>
          <a:blip r:embed="rId1"/>
          <a:stretch>
            <a:fillRect/>
          </a:stretch>
        </p:blipFill>
        <p:spPr>
          <a:xfrm>
            <a:off x="457200" y="310896"/>
            <a:ext cx="566928" cy="566928"/>
          </a:xfrm>
          <a:prstGeom prst="rect">
            <a:avLst/>
          </a:prstGeom>
        </p:spPr>
      </p:pic>
      <p:sp>
        <p:nvSpPr>
          <p:cNvPr id="3" name="Text 0"/>
          <p:cNvSpPr/>
          <p:nvPr/>
        </p:nvSpPr>
        <p:spPr>
          <a:xfrm>
            <a:off x="1170432" y="310896"/>
            <a:ext cx="10515600" cy="566928"/>
          </a:xfrm>
          <a:prstGeom prst="rect">
            <a:avLst/>
          </a:prstGeom>
          <a:noFill/>
          <a:ln/>
        </p:spPr>
        <p:txBody>
          <a:bodyPr wrap="square" rtlCol="0" anchor="ctr"/>
          <a:lstStyle/>
          <a:p>
            <a:pPr indent="0" marL="0">
              <a:buNone/>
            </a:pPr>
            <a:r>
              <a:rPr lang="en-US" sz="2600" b="1" dirty="0">
                <a:solidFill>
                  <a:srgbClr val="201F1E"/>
                </a:solidFill>
                <a:latin typeface="Segoe UI Semibold" pitchFamily="34" charset="0"/>
                <a:ea typeface="Segoe UI Semibold" pitchFamily="34" charset="-122"/>
                <a:cs typeface="Segoe UI Semibold" pitchFamily="34" charset="-120"/>
              </a:rPr>
              <a:t>Solution  —  Approach, Impact &amp; Stack</a:t>
            </a:r>
            <a:endParaRPr lang="en-US" sz="2600" dirty="0"/>
          </a:p>
        </p:txBody>
      </p:sp>
      <p:sp>
        <p:nvSpPr>
          <p:cNvPr id="4" name="Shape 1"/>
          <p:cNvSpPr/>
          <p:nvPr/>
        </p:nvSpPr>
        <p:spPr>
          <a:xfrm>
            <a:off x="1188720" y="969264"/>
            <a:ext cx="109728" cy="64008"/>
          </a:xfrm>
          <a:prstGeom prst="rect">
            <a:avLst/>
          </a:prstGeom>
          <a:solidFill>
            <a:srgbClr val="F25022"/>
          </a:solidFill>
          <a:ln/>
        </p:spPr>
      </p:sp>
      <p:sp>
        <p:nvSpPr>
          <p:cNvPr id="5" name="Shape 2"/>
          <p:cNvSpPr/>
          <p:nvPr/>
        </p:nvSpPr>
        <p:spPr>
          <a:xfrm>
            <a:off x="1335024" y="969264"/>
            <a:ext cx="109728" cy="64008"/>
          </a:xfrm>
          <a:prstGeom prst="rect">
            <a:avLst/>
          </a:prstGeom>
          <a:solidFill>
            <a:srgbClr val="7FBA00"/>
          </a:solidFill>
          <a:ln/>
        </p:spPr>
      </p:sp>
      <p:sp>
        <p:nvSpPr>
          <p:cNvPr id="6" name="Shape 3"/>
          <p:cNvSpPr/>
          <p:nvPr/>
        </p:nvSpPr>
        <p:spPr>
          <a:xfrm>
            <a:off x="1481328" y="969264"/>
            <a:ext cx="109728" cy="64008"/>
          </a:xfrm>
          <a:prstGeom prst="rect">
            <a:avLst/>
          </a:prstGeom>
          <a:solidFill>
            <a:srgbClr val="00A4EF"/>
          </a:solidFill>
          <a:ln/>
        </p:spPr>
      </p:sp>
      <p:sp>
        <p:nvSpPr>
          <p:cNvPr id="7" name="Shape 4"/>
          <p:cNvSpPr/>
          <p:nvPr/>
        </p:nvSpPr>
        <p:spPr>
          <a:xfrm>
            <a:off x="1627632" y="969264"/>
            <a:ext cx="109728" cy="64008"/>
          </a:xfrm>
          <a:prstGeom prst="rect">
            <a:avLst/>
          </a:prstGeom>
          <a:solidFill>
            <a:srgbClr val="FFB900"/>
          </a:solidFill>
          <a:ln/>
        </p:spPr>
      </p:sp>
      <p:sp>
        <p:nvSpPr>
          <p:cNvPr id="8" name="Text 5"/>
          <p:cNvSpPr/>
          <p:nvPr/>
        </p:nvSpPr>
        <p:spPr>
          <a:xfrm>
            <a:off x="457200" y="6355080"/>
            <a:ext cx="9875520" cy="292608"/>
          </a:xfrm>
          <a:prstGeom prst="rect">
            <a:avLst/>
          </a:prstGeom>
          <a:noFill/>
          <a:ln/>
        </p:spPr>
        <p:txBody>
          <a:bodyPr wrap="square" rtlCol="0" anchor="ctr"/>
          <a:lstStyle/>
          <a:p>
            <a:pPr algn="l" indent="0" marL="0">
              <a:buNone/>
            </a:pPr>
            <a:r>
              <a:rPr lang="en-US" sz="900" dirty="0">
                <a:solidFill>
                  <a:srgbClr val="8A8886"/>
                </a:solidFill>
                <a:latin typeface="Segoe UI" pitchFamily="34" charset="0"/>
                <a:ea typeface="Segoe UI" pitchFamily="34" charset="-122"/>
                <a:cs typeface="Segoe UI" pitchFamily="34" charset="-120"/>
              </a:rPr>
              <a:t>The Hallucinato  ·  Microsoft Hackathon — Theme 06: AI-Powered Production Function: Reinventing Work</a:t>
            </a:r>
            <a:endParaRPr lang="en-US" sz="900" dirty="0"/>
          </a:p>
        </p:txBody>
      </p:sp>
      <p:sp>
        <p:nvSpPr>
          <p:cNvPr id="9" name="Text 6"/>
          <p:cNvSpPr/>
          <p:nvPr/>
        </p:nvSpPr>
        <p:spPr>
          <a:xfrm>
            <a:off x="11064240" y="6355080"/>
            <a:ext cx="457200" cy="292608"/>
          </a:xfrm>
          <a:prstGeom prst="rect">
            <a:avLst/>
          </a:prstGeom>
          <a:noFill/>
          <a:ln/>
        </p:spPr>
        <p:txBody>
          <a:bodyPr wrap="square"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4</a:t>
            </a:r>
            <a:endParaRPr lang="en-US" sz="900" dirty="0"/>
          </a:p>
        </p:txBody>
      </p:sp>
      <p:pic>
        <p:nvPicPr>
          <p:cNvPr id="10" name="Image 1" descr="assets/logo_squares.png">    </p:cNvPr>
          <p:cNvPicPr>
            <a:picLocks noChangeAspect="1"/>
          </p:cNvPicPr>
          <p:nvPr/>
        </p:nvPicPr>
        <p:blipFill>
          <a:blip r:embed="rId2"/>
          <a:stretch>
            <a:fillRect/>
          </a:stretch>
        </p:blipFill>
        <p:spPr>
          <a:xfrm>
            <a:off x="11649456" y="6355080"/>
            <a:ext cx="292608" cy="292608"/>
          </a:xfrm>
          <a:prstGeom prst="rect">
            <a:avLst/>
          </a:prstGeom>
        </p:spPr>
      </p:pic>
      <p:sp>
        <p:nvSpPr>
          <p:cNvPr id="11" name="Shape 7"/>
          <p:cNvSpPr/>
          <p:nvPr/>
        </p:nvSpPr>
        <p:spPr>
          <a:xfrm>
            <a:off x="548640" y="1280160"/>
            <a:ext cx="6903720" cy="2331720"/>
          </a:xfrm>
          <a:prstGeom prst="roundRect">
            <a:avLst>
              <a:gd name="adj" fmla="val 2745"/>
            </a:avLst>
          </a:prstGeom>
          <a:solidFill>
            <a:srgbClr val="FFFFFF"/>
          </a:solidFill>
          <a:ln w="12700">
            <a:solidFill>
              <a:srgbClr val="E1DFDD"/>
            </a:solidFill>
            <a:prstDash val="solid"/>
          </a:ln>
        </p:spPr>
      </p:sp>
      <p:sp>
        <p:nvSpPr>
          <p:cNvPr id="12" name="Shape 8"/>
          <p:cNvSpPr/>
          <p:nvPr/>
        </p:nvSpPr>
        <p:spPr>
          <a:xfrm>
            <a:off x="548640" y="1280160"/>
            <a:ext cx="82296" cy="2331720"/>
          </a:xfrm>
          <a:prstGeom prst="roundRect">
            <a:avLst>
              <a:gd name="adj" fmla="val 44444"/>
            </a:avLst>
          </a:prstGeom>
          <a:solidFill>
            <a:srgbClr val="7FBA00"/>
          </a:solidFill>
          <a:ln/>
        </p:spPr>
      </p:sp>
      <p:sp>
        <p:nvSpPr>
          <p:cNvPr id="13" name="Text 9"/>
          <p:cNvSpPr/>
          <p:nvPr/>
        </p:nvSpPr>
        <p:spPr>
          <a:xfrm>
            <a:off x="777240" y="1371600"/>
            <a:ext cx="6400800" cy="320040"/>
          </a:xfrm>
          <a:prstGeom prst="rect">
            <a:avLst/>
          </a:prstGeom>
          <a:noFill/>
          <a:ln/>
        </p:spPr>
        <p:txBody>
          <a:bodyPr wrap="square" rtlCol="0" anchor="ctr"/>
          <a:lstStyle/>
          <a:p>
            <a:pPr indent="0" marL="0">
              <a:buNone/>
            </a:pPr>
            <a:r>
              <a:rPr lang="en-US" sz="1400" b="1" dirty="0">
                <a:solidFill>
                  <a:srgbClr val="201F1E"/>
                </a:solidFill>
                <a:latin typeface="Segoe UI Semibold" pitchFamily="34" charset="0"/>
                <a:ea typeface="Segoe UI Semibold" pitchFamily="34" charset="-122"/>
                <a:cs typeface="Segoe UI Semibold" pitchFamily="34" charset="-120"/>
              </a:rPr>
              <a:t>How it solves the problem</a:t>
            </a:r>
            <a:endParaRPr lang="en-US" sz="1400" dirty="0"/>
          </a:p>
        </p:txBody>
      </p:sp>
      <p:sp>
        <p:nvSpPr>
          <p:cNvPr id="14" name="Text 10"/>
          <p:cNvSpPr/>
          <p:nvPr/>
        </p:nvSpPr>
        <p:spPr>
          <a:xfrm>
            <a:off x="777240" y="1737360"/>
            <a:ext cx="6492240" cy="1828800"/>
          </a:xfrm>
          <a:prstGeom prst="rect">
            <a:avLst/>
          </a:prstGeom>
          <a:noFill/>
          <a:ln/>
        </p:spPr>
        <p:txBody>
          <a:bodyPr wrap="square" rtlCol="0" anchor="t"/>
          <a:lstStyle/>
          <a:p>
            <a:pPr marL="177800" indent="-177800">
              <a:lnSpc>
                <a:spcPct val="104000"/>
              </a:lnSpc>
              <a:buSzPct val="100000"/>
              <a:buChar char="•"/>
            </a:pPr>
            <a:r>
              <a:rPr lang="en-US" sz="1150" b="1" dirty="0">
                <a:solidFill>
                  <a:srgbClr val="201F1E"/>
                </a:solidFill>
                <a:latin typeface="Segoe UI" pitchFamily="34" charset="0"/>
                <a:ea typeface="Segoe UI" pitchFamily="34" charset="-122"/>
                <a:cs typeface="Segoe UI" pitchFamily="34" charset="-120"/>
              </a:rPr>
              <a:t>Developer Trust Score (DTS) </a:t>
            </a:r>
            <a:pPr indent="0" marL="0">
              <a:lnSpc>
                <a:spcPct val="104000"/>
              </a:lnSpc>
              <a:buNone/>
            </a:pPr>
            <a:r>
              <a:rPr lang="en-US" sz="1150" dirty="0">
                <a:solidFill>
                  <a:srgbClr val="201F1E"/>
                </a:solidFill>
                <a:latin typeface="Segoe UI" pitchFamily="34" charset="0"/>
                <a:ea typeface="Segoe UI" pitchFamily="34" charset="-122"/>
                <a:cs typeface="Segoe UI" pitchFamily="34" charset="-120"/>
              </a:rPr>
              <a:t>routes each PR to the right review depth — trusted devs get an ~8s scan, risky authors get a deep audit, and DTS &lt; 20 is blocked automatically.
</a:t>
            </a:r>
            <a:pPr indent="0" marL="0">
              <a:lnSpc>
                <a:spcPct val="104000"/>
              </a:lnSpc>
              <a:buNone/>
            </a:pPr>
            <a:r>
              <a:rPr lang="en-US" sz="1150" b="1" dirty="0">
                <a:solidFill>
                  <a:srgbClr val="201F1E"/>
                </a:solidFill>
                <a:latin typeface="Segoe UI" pitchFamily="34" charset="0"/>
                <a:ea typeface="Segoe UI" pitchFamily="34" charset="-122"/>
                <a:cs typeface="Segoe UI" pitchFamily="34" charset="-120"/>
              </a:rPr>
              <a:t>Codebase DNA Fingerprint </a:t>
            </a:r>
            <a:pPr indent="0" marL="0">
              <a:lnSpc>
                <a:spcPct val="104000"/>
              </a:lnSpc>
              <a:buNone/>
            </a:pPr>
            <a:r>
              <a:rPr lang="en-US" sz="1150" dirty="0">
                <a:solidFill>
                  <a:srgbClr val="201F1E"/>
                </a:solidFill>
                <a:latin typeface="Segoe UI" pitchFamily="34" charset="0"/>
                <a:ea typeface="Segoe UI" pitchFamily="34" charset="-122"/>
                <a:cs typeface="Segoe UI" pitchFamily="34" charset="-120"/>
              </a:rPr>
              <a:t>learns each repo's real conventions and flags violations of YOUR standards, not generic rules.
</a:t>
            </a:r>
            <a:pPr indent="0" marL="0">
              <a:lnSpc>
                <a:spcPct val="104000"/>
              </a:lnSpc>
              <a:buNone/>
            </a:pPr>
            <a:r>
              <a:rPr lang="en-US" sz="1150" b="1" dirty="0">
                <a:solidFill>
                  <a:srgbClr val="201F1E"/>
                </a:solidFill>
                <a:latin typeface="Segoe UI" pitchFamily="34" charset="0"/>
                <a:ea typeface="Segoe UI" pitchFamily="34" charset="-122"/>
                <a:cs typeface="Segoe UI" pitchFamily="34" charset="-120"/>
              </a:rPr>
              <a:t>Actions: </a:t>
            </a:r>
            <a:pPr indent="0" marL="0">
              <a:lnSpc>
                <a:spcPct val="104000"/>
              </a:lnSpc>
              <a:buNone/>
            </a:pPr>
            <a:r>
              <a:rPr lang="en-US" sz="1150" dirty="0">
                <a:solidFill>
                  <a:srgbClr val="201F1E"/>
                </a:solidFill>
                <a:latin typeface="Segoe UI" pitchFamily="34" charset="0"/>
                <a:ea typeface="Segoe UI" pitchFamily="34" charset="-122"/>
                <a:cs typeface="Segoe UI" pitchFamily="34" charset="-120"/>
              </a:rPr>
              <a:t>inline PR comments + a merge-blocking commit status, Discord alerts, and an explainable dashboard.</a:t>
            </a:r>
            <a:endParaRPr lang="en-US" sz="1150" dirty="0"/>
          </a:p>
        </p:txBody>
      </p:sp>
      <p:sp>
        <p:nvSpPr>
          <p:cNvPr id="15" name="Shape 11"/>
          <p:cNvSpPr/>
          <p:nvPr/>
        </p:nvSpPr>
        <p:spPr>
          <a:xfrm>
            <a:off x="7635240" y="1280160"/>
            <a:ext cx="4005072" cy="2331720"/>
          </a:xfrm>
          <a:prstGeom prst="roundRect">
            <a:avLst>
              <a:gd name="adj" fmla="val 2745"/>
            </a:avLst>
          </a:prstGeom>
          <a:solidFill>
            <a:srgbClr val="FFFFFF"/>
          </a:solidFill>
          <a:ln w="12700">
            <a:solidFill>
              <a:srgbClr val="E1DFDD"/>
            </a:solidFill>
            <a:prstDash val="solid"/>
          </a:ln>
        </p:spPr>
      </p:sp>
      <p:sp>
        <p:nvSpPr>
          <p:cNvPr id="16" name="Shape 12"/>
          <p:cNvSpPr/>
          <p:nvPr/>
        </p:nvSpPr>
        <p:spPr>
          <a:xfrm>
            <a:off x="7635240" y="1280160"/>
            <a:ext cx="82296" cy="2331720"/>
          </a:xfrm>
          <a:prstGeom prst="roundRect">
            <a:avLst>
              <a:gd name="adj" fmla="val 44444"/>
            </a:avLst>
          </a:prstGeom>
          <a:solidFill>
            <a:srgbClr val="0078D4"/>
          </a:solidFill>
          <a:ln/>
        </p:spPr>
      </p:sp>
      <p:sp>
        <p:nvSpPr>
          <p:cNvPr id="17" name="Text 13"/>
          <p:cNvSpPr/>
          <p:nvPr/>
        </p:nvSpPr>
        <p:spPr>
          <a:xfrm>
            <a:off x="7863840" y="1371600"/>
            <a:ext cx="3657600" cy="320040"/>
          </a:xfrm>
          <a:prstGeom prst="rect">
            <a:avLst/>
          </a:prstGeom>
          <a:noFill/>
          <a:ln/>
        </p:spPr>
        <p:txBody>
          <a:bodyPr wrap="square" rtlCol="0" anchor="ctr"/>
          <a:lstStyle/>
          <a:p>
            <a:pPr indent="0" marL="0">
              <a:buNone/>
            </a:pPr>
            <a:r>
              <a:rPr lang="en-US" sz="1400" b="1" dirty="0">
                <a:solidFill>
                  <a:srgbClr val="201F1E"/>
                </a:solidFill>
                <a:latin typeface="Segoe UI Semibold" pitchFamily="34" charset="0"/>
                <a:ea typeface="Segoe UI Semibold" pitchFamily="34" charset="-122"/>
                <a:cs typeface="Segoe UI Semibold" pitchFamily="34" charset="-120"/>
              </a:rPr>
              <a:t>Impact metrics</a:t>
            </a:r>
            <a:endParaRPr lang="en-US" sz="1400" dirty="0"/>
          </a:p>
        </p:txBody>
      </p:sp>
      <p:sp>
        <p:nvSpPr>
          <p:cNvPr id="18" name="Text 14"/>
          <p:cNvSpPr/>
          <p:nvPr/>
        </p:nvSpPr>
        <p:spPr>
          <a:xfrm>
            <a:off x="7863840" y="1737360"/>
            <a:ext cx="3611880" cy="1828800"/>
          </a:xfrm>
          <a:prstGeom prst="rect">
            <a:avLst/>
          </a:prstGeom>
          <a:noFill/>
          <a:ln/>
        </p:spPr>
        <p:txBody>
          <a:bodyPr wrap="square" rtlCol="0" anchor="t"/>
          <a:lstStyle/>
          <a:p>
            <a:pPr marL="152400" indent="-152400">
              <a:lnSpc>
                <a:spcPct val="105000"/>
              </a:lnSpc>
              <a:buSzPct val="100000"/>
              <a:buChar char="•"/>
            </a:pPr>
            <a:r>
              <a:rPr lang="en-US" sz="1080" dirty="0">
                <a:solidFill>
                  <a:srgbClr val="201F1E"/>
                </a:solidFill>
                <a:latin typeface="Segoe UI" pitchFamily="34" charset="0"/>
                <a:ea typeface="Segoe UI" pitchFamily="34" charset="-122"/>
                <a:cs typeface="Segoe UI" pitchFamily="34" charset="-120"/>
              </a:rPr>
              <a:t>PR review turnaround (hours → seconds for trusted devs)</a:t>
            </a:r>
            <a:endParaRPr lang="en-US" sz="1080" dirty="0"/>
          </a:p>
          <a:p>
            <a:pPr marL="152400" indent="-152400">
              <a:lnSpc>
                <a:spcPct val="105000"/>
              </a:lnSpc>
              <a:buSzPct val="100000"/>
              <a:buChar char="•"/>
            </a:pPr>
            <a:r>
              <a:rPr lang="en-US" sz="1080" dirty="0">
                <a:solidFill>
                  <a:srgbClr val="201F1E"/>
                </a:solidFill>
                <a:latin typeface="Segoe UI" pitchFamily="34" charset="0"/>
                <a:ea typeface="Segoe UI" pitchFamily="34" charset="-122"/>
                <a:cs typeface="Segoe UI" pitchFamily="34" charset="-120"/>
              </a:rPr>
              <a:t>% HIGH/CRITICAL findings caught pre-merge</a:t>
            </a:r>
            <a:endParaRPr lang="en-US" sz="1080" dirty="0"/>
          </a:p>
          <a:p>
            <a:pPr marL="152400" indent="-152400">
              <a:lnSpc>
                <a:spcPct val="105000"/>
              </a:lnSpc>
              <a:buSzPct val="100000"/>
              <a:buChar char="•"/>
            </a:pPr>
            <a:r>
              <a:rPr lang="en-US" sz="1080" dirty="0">
                <a:solidFill>
                  <a:srgbClr val="201F1E"/>
                </a:solidFill>
                <a:latin typeface="Segoe UI" pitchFamily="34" charset="0"/>
                <a:ea typeface="Segoe UI" pitchFamily="34" charset="-122"/>
                <a:cs typeface="Segoe UI" pitchFamily="34" charset="-120"/>
              </a:rPr>
              <a:t>Reduction in production security defects</a:t>
            </a:r>
            <a:endParaRPr lang="en-US" sz="1080" dirty="0"/>
          </a:p>
          <a:p>
            <a:pPr marL="152400" indent="-152400">
              <a:lnSpc>
                <a:spcPct val="105000"/>
              </a:lnSpc>
              <a:buSzPct val="100000"/>
              <a:buChar char="•"/>
            </a:pPr>
            <a:r>
              <a:rPr lang="en-US" sz="1080" dirty="0">
                <a:solidFill>
                  <a:srgbClr val="201F1E"/>
                </a:solidFill>
                <a:latin typeface="Segoe UI" pitchFamily="34" charset="0"/>
                <a:ea typeface="Segoe UI" pitchFamily="34" charset="-122"/>
                <a:cs typeface="Segoe UI" pitchFamily="34" charset="-120"/>
              </a:rPr>
              <a:t>Reviewer hours saved per week</a:t>
            </a:r>
            <a:endParaRPr lang="en-US" sz="1080" dirty="0"/>
          </a:p>
          <a:p>
            <a:pPr marL="152400" indent="-152400">
              <a:lnSpc>
                <a:spcPct val="105000"/>
              </a:lnSpc>
              <a:buSzPct val="100000"/>
              <a:buChar char="•"/>
            </a:pPr>
            <a:r>
              <a:rPr lang="en-US" sz="1080" dirty="0">
                <a:solidFill>
                  <a:srgbClr val="201F1E"/>
                </a:solidFill>
                <a:latin typeface="Segoe UI" pitchFamily="34" charset="0"/>
                <a:ea typeface="Segoe UI" pitchFamily="34" charset="-122"/>
                <a:cs typeface="Segoe UI" pitchFamily="34" charset="-120"/>
              </a:rPr>
              <a:t>DTS trend per developer over time</a:t>
            </a:r>
            <a:endParaRPr lang="en-US" sz="1080" dirty="0"/>
          </a:p>
          <a:p>
            <a:pPr marL="152400" indent="-152400">
              <a:lnSpc>
                <a:spcPct val="105000"/>
              </a:lnSpc>
              <a:buSzPct val="100000"/>
              <a:buChar char="•"/>
            </a:pPr>
            <a:r>
              <a:rPr lang="en-US" sz="1080" dirty="0">
                <a:solidFill>
                  <a:srgbClr val="201F1E"/>
                </a:solidFill>
                <a:latin typeface="Segoe UI" pitchFamily="34" charset="0"/>
                <a:ea typeface="Segoe UI" pitchFamily="34" charset="-122"/>
                <a:cs typeface="Segoe UI" pitchFamily="34" charset="-120"/>
              </a:rPr>
              <a:t>Deploy-gate Red rate before release</a:t>
            </a:r>
            <a:endParaRPr lang="en-US" sz="1080" dirty="0"/>
          </a:p>
        </p:txBody>
      </p:sp>
      <p:sp>
        <p:nvSpPr>
          <p:cNvPr id="19" name="Shape 15"/>
          <p:cNvSpPr/>
          <p:nvPr/>
        </p:nvSpPr>
        <p:spPr>
          <a:xfrm>
            <a:off x="548640" y="3794760"/>
            <a:ext cx="11091672" cy="2331720"/>
          </a:xfrm>
          <a:prstGeom prst="roundRect">
            <a:avLst>
              <a:gd name="adj" fmla="val 2745"/>
            </a:avLst>
          </a:prstGeom>
          <a:solidFill>
            <a:srgbClr val="FFFFFF"/>
          </a:solidFill>
          <a:ln w="12700">
            <a:solidFill>
              <a:srgbClr val="E1DFDD"/>
            </a:solidFill>
            <a:prstDash val="solid"/>
          </a:ln>
        </p:spPr>
      </p:sp>
      <p:sp>
        <p:nvSpPr>
          <p:cNvPr id="20" name="Shape 16"/>
          <p:cNvSpPr/>
          <p:nvPr/>
        </p:nvSpPr>
        <p:spPr>
          <a:xfrm>
            <a:off x="548640" y="3794760"/>
            <a:ext cx="82296" cy="2331720"/>
          </a:xfrm>
          <a:prstGeom prst="roundRect">
            <a:avLst>
              <a:gd name="adj" fmla="val 44444"/>
            </a:avLst>
          </a:prstGeom>
          <a:solidFill>
            <a:srgbClr val="FFB900"/>
          </a:solidFill>
          <a:ln/>
        </p:spPr>
      </p:sp>
      <p:sp>
        <p:nvSpPr>
          <p:cNvPr id="21" name="Text 17"/>
          <p:cNvSpPr/>
          <p:nvPr/>
        </p:nvSpPr>
        <p:spPr>
          <a:xfrm>
            <a:off x="777240" y="3886200"/>
            <a:ext cx="10058400" cy="320040"/>
          </a:xfrm>
          <a:prstGeom prst="rect">
            <a:avLst/>
          </a:prstGeom>
          <a:noFill/>
          <a:ln/>
        </p:spPr>
        <p:txBody>
          <a:bodyPr wrap="square" rtlCol="0" anchor="ctr"/>
          <a:lstStyle/>
          <a:p>
            <a:pPr indent="0" marL="0">
              <a:buNone/>
            </a:pPr>
            <a:r>
              <a:rPr lang="en-US" sz="1400" b="1" dirty="0">
                <a:solidFill>
                  <a:srgbClr val="201F1E"/>
                </a:solidFill>
                <a:latin typeface="Segoe UI Semibold" pitchFamily="34" charset="0"/>
                <a:ea typeface="Segoe UI Semibold" pitchFamily="34" charset="-122"/>
                <a:cs typeface="Segoe UI Semibold" pitchFamily="34" charset="-120"/>
              </a:rPr>
              <a:t>Frameworks · Tools · Technology stack</a:t>
            </a:r>
            <a:endParaRPr lang="en-US" sz="1400" dirty="0"/>
          </a:p>
        </p:txBody>
      </p:sp>
      <p:sp>
        <p:nvSpPr>
          <p:cNvPr id="22" name="Text 18"/>
          <p:cNvSpPr/>
          <p:nvPr/>
        </p:nvSpPr>
        <p:spPr>
          <a:xfrm>
            <a:off x="777240" y="4297680"/>
            <a:ext cx="2103120" cy="384048"/>
          </a:xfrm>
          <a:prstGeom prst="rect">
            <a:avLst/>
          </a:prstGeom>
          <a:noFill/>
          <a:ln/>
        </p:spPr>
        <p:txBody>
          <a:bodyPr wrap="square" rtlCol="0" anchor="ctr"/>
          <a:lstStyle/>
          <a:p>
            <a:pPr indent="0" marL="0">
              <a:buNone/>
            </a:pPr>
            <a:r>
              <a:rPr lang="en-US" sz="1050" b="1" dirty="0">
                <a:solidFill>
                  <a:srgbClr val="005A9E"/>
                </a:solidFill>
                <a:latin typeface="Segoe UI Semibold" pitchFamily="34" charset="0"/>
                <a:ea typeface="Segoe UI Semibold" pitchFamily="34" charset="-122"/>
                <a:cs typeface="Segoe UI Semibold" pitchFamily="34" charset="-120"/>
              </a:rPr>
              <a:t>Backend</a:t>
            </a:r>
            <a:endParaRPr lang="en-US" sz="1050" dirty="0"/>
          </a:p>
        </p:txBody>
      </p:sp>
      <p:sp>
        <p:nvSpPr>
          <p:cNvPr id="23" name="Text 19"/>
          <p:cNvSpPr/>
          <p:nvPr/>
        </p:nvSpPr>
        <p:spPr>
          <a:xfrm>
            <a:off x="2834640" y="4297680"/>
            <a:ext cx="3291840" cy="384048"/>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Python · FastAPI (single deploy)</a:t>
            </a:r>
            <a:endParaRPr lang="en-US" sz="1050" dirty="0"/>
          </a:p>
        </p:txBody>
      </p:sp>
      <p:sp>
        <p:nvSpPr>
          <p:cNvPr id="24" name="Text 20"/>
          <p:cNvSpPr/>
          <p:nvPr/>
        </p:nvSpPr>
        <p:spPr>
          <a:xfrm>
            <a:off x="6263640" y="4297680"/>
            <a:ext cx="2103120" cy="384048"/>
          </a:xfrm>
          <a:prstGeom prst="rect">
            <a:avLst/>
          </a:prstGeom>
          <a:noFill/>
          <a:ln/>
        </p:spPr>
        <p:txBody>
          <a:bodyPr wrap="square" rtlCol="0" anchor="ctr"/>
          <a:lstStyle/>
          <a:p>
            <a:pPr indent="0" marL="0">
              <a:buNone/>
            </a:pPr>
            <a:r>
              <a:rPr lang="en-US" sz="1050" b="1" dirty="0">
                <a:solidFill>
                  <a:srgbClr val="005A9E"/>
                </a:solidFill>
                <a:latin typeface="Segoe UI Semibold" pitchFamily="34" charset="0"/>
                <a:ea typeface="Segoe UI Semibold" pitchFamily="34" charset="-122"/>
                <a:cs typeface="Segoe UI Semibold" pitchFamily="34" charset="-120"/>
              </a:rPr>
              <a:t>AI models (NVIDIA NIM)</a:t>
            </a:r>
            <a:endParaRPr lang="en-US" sz="1050" dirty="0"/>
          </a:p>
        </p:txBody>
      </p:sp>
      <p:sp>
        <p:nvSpPr>
          <p:cNvPr id="25" name="Text 21"/>
          <p:cNvSpPr/>
          <p:nvPr/>
        </p:nvSpPr>
        <p:spPr>
          <a:xfrm>
            <a:off x="8321040" y="4297680"/>
            <a:ext cx="3291840" cy="384048"/>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Llama 4 Maverick · Qwen3.5-122B · Nemotron-Super-49B</a:t>
            </a:r>
            <a:endParaRPr lang="en-US" sz="1050" dirty="0"/>
          </a:p>
        </p:txBody>
      </p:sp>
      <p:sp>
        <p:nvSpPr>
          <p:cNvPr id="26" name="Text 22"/>
          <p:cNvSpPr/>
          <p:nvPr/>
        </p:nvSpPr>
        <p:spPr>
          <a:xfrm>
            <a:off x="777240" y="4736592"/>
            <a:ext cx="2103120" cy="384048"/>
          </a:xfrm>
          <a:prstGeom prst="rect">
            <a:avLst/>
          </a:prstGeom>
          <a:noFill/>
          <a:ln/>
        </p:spPr>
        <p:txBody>
          <a:bodyPr wrap="square" rtlCol="0" anchor="ctr"/>
          <a:lstStyle/>
          <a:p>
            <a:pPr indent="0" marL="0">
              <a:buNone/>
            </a:pPr>
            <a:r>
              <a:rPr lang="en-US" sz="1050" b="1" dirty="0">
                <a:solidFill>
                  <a:srgbClr val="005A9E"/>
                </a:solidFill>
                <a:latin typeface="Segoe UI Semibold" pitchFamily="34" charset="0"/>
                <a:ea typeface="Segoe UI Semibold" pitchFamily="34" charset="-122"/>
                <a:cs typeface="Segoe UI Semibold" pitchFamily="34" charset="-120"/>
              </a:rPr>
              <a:t>Vector DNA</a:t>
            </a:r>
            <a:endParaRPr lang="en-US" sz="1050" dirty="0"/>
          </a:p>
        </p:txBody>
      </p:sp>
      <p:sp>
        <p:nvSpPr>
          <p:cNvPr id="27" name="Text 23"/>
          <p:cNvSpPr/>
          <p:nvPr/>
        </p:nvSpPr>
        <p:spPr>
          <a:xfrm>
            <a:off x="2834640" y="4736592"/>
            <a:ext cx="3291840" cy="384048"/>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ChromaDB + nv-embedqa-e5-v5</a:t>
            </a:r>
            <a:endParaRPr lang="en-US" sz="1050" dirty="0"/>
          </a:p>
        </p:txBody>
      </p:sp>
      <p:sp>
        <p:nvSpPr>
          <p:cNvPr id="28" name="Text 24"/>
          <p:cNvSpPr/>
          <p:nvPr/>
        </p:nvSpPr>
        <p:spPr>
          <a:xfrm>
            <a:off x="6263640" y="4736592"/>
            <a:ext cx="2103120" cy="384048"/>
          </a:xfrm>
          <a:prstGeom prst="rect">
            <a:avLst/>
          </a:prstGeom>
          <a:noFill/>
          <a:ln/>
        </p:spPr>
        <p:txBody>
          <a:bodyPr wrap="square" rtlCol="0" anchor="ctr"/>
          <a:lstStyle/>
          <a:p>
            <a:pPr indent="0" marL="0">
              <a:buNone/>
            </a:pPr>
            <a:r>
              <a:rPr lang="en-US" sz="1050" b="1" dirty="0">
                <a:solidFill>
                  <a:srgbClr val="005A9E"/>
                </a:solidFill>
                <a:latin typeface="Segoe UI Semibold" pitchFamily="34" charset="0"/>
                <a:ea typeface="Segoe UI Semibold" pitchFamily="34" charset="-122"/>
                <a:cs typeface="Segoe UI Semibold" pitchFamily="34" charset="-120"/>
              </a:rPr>
              <a:t>Data</a:t>
            </a:r>
            <a:endParaRPr lang="en-US" sz="1050" dirty="0"/>
          </a:p>
        </p:txBody>
      </p:sp>
      <p:sp>
        <p:nvSpPr>
          <p:cNvPr id="29" name="Text 25"/>
          <p:cNvSpPr/>
          <p:nvPr/>
        </p:nvSpPr>
        <p:spPr>
          <a:xfrm>
            <a:off x="8321040" y="4736592"/>
            <a:ext cx="3291840" cy="384048"/>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SQLite (WAL) — trust, reviews, findings</a:t>
            </a:r>
            <a:endParaRPr lang="en-US" sz="1050" dirty="0"/>
          </a:p>
        </p:txBody>
      </p:sp>
      <p:sp>
        <p:nvSpPr>
          <p:cNvPr id="30" name="Text 26"/>
          <p:cNvSpPr/>
          <p:nvPr/>
        </p:nvSpPr>
        <p:spPr>
          <a:xfrm>
            <a:off x="777240" y="5175504"/>
            <a:ext cx="2103120" cy="384048"/>
          </a:xfrm>
          <a:prstGeom prst="rect">
            <a:avLst/>
          </a:prstGeom>
          <a:noFill/>
          <a:ln/>
        </p:spPr>
        <p:txBody>
          <a:bodyPr wrap="square" rtlCol="0" anchor="ctr"/>
          <a:lstStyle/>
          <a:p>
            <a:pPr indent="0" marL="0">
              <a:buNone/>
            </a:pPr>
            <a:r>
              <a:rPr lang="en-US" sz="1050" b="1" dirty="0">
                <a:solidFill>
                  <a:srgbClr val="005A9E"/>
                </a:solidFill>
                <a:latin typeface="Segoe UI Semibold" pitchFamily="34" charset="0"/>
                <a:ea typeface="Segoe UI Semibold" pitchFamily="34" charset="-122"/>
                <a:cs typeface="Segoe UI Semibold" pitchFamily="34" charset="-120"/>
              </a:rPr>
              <a:t>Security scan</a:t>
            </a:r>
            <a:endParaRPr lang="en-US" sz="1050" dirty="0"/>
          </a:p>
        </p:txBody>
      </p:sp>
      <p:sp>
        <p:nvSpPr>
          <p:cNvPr id="31" name="Text 27"/>
          <p:cNvSpPr/>
          <p:nvPr/>
        </p:nvSpPr>
        <p:spPr>
          <a:xfrm>
            <a:off x="2834640" y="5175504"/>
            <a:ext cx="3291840" cy="384048"/>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Semgrep OSS / built-in OWASP rule pack</a:t>
            </a:r>
            <a:endParaRPr lang="en-US" sz="1050" dirty="0"/>
          </a:p>
        </p:txBody>
      </p:sp>
      <p:sp>
        <p:nvSpPr>
          <p:cNvPr id="32" name="Text 28"/>
          <p:cNvSpPr/>
          <p:nvPr/>
        </p:nvSpPr>
        <p:spPr>
          <a:xfrm>
            <a:off x="6263640" y="5175504"/>
            <a:ext cx="2103120" cy="384048"/>
          </a:xfrm>
          <a:prstGeom prst="rect">
            <a:avLst/>
          </a:prstGeom>
          <a:noFill/>
          <a:ln/>
        </p:spPr>
        <p:txBody>
          <a:bodyPr wrap="square" rtlCol="0" anchor="ctr"/>
          <a:lstStyle/>
          <a:p>
            <a:pPr indent="0" marL="0">
              <a:buNone/>
            </a:pPr>
            <a:r>
              <a:rPr lang="en-US" sz="1050" b="1" dirty="0">
                <a:solidFill>
                  <a:srgbClr val="005A9E"/>
                </a:solidFill>
                <a:latin typeface="Segoe UI Semibold" pitchFamily="34" charset="0"/>
                <a:ea typeface="Segoe UI Semibold" pitchFamily="34" charset="-122"/>
                <a:cs typeface="Segoe UI Semibold" pitchFamily="34" charset="-120"/>
              </a:rPr>
              <a:t>Integrations</a:t>
            </a:r>
            <a:endParaRPr lang="en-US" sz="1050" dirty="0"/>
          </a:p>
        </p:txBody>
      </p:sp>
      <p:sp>
        <p:nvSpPr>
          <p:cNvPr id="33" name="Text 29"/>
          <p:cNvSpPr/>
          <p:nvPr/>
        </p:nvSpPr>
        <p:spPr>
          <a:xfrm>
            <a:off x="8321040" y="5175504"/>
            <a:ext cx="3291840" cy="384048"/>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GitHub webhooks + REST · Discord / Teams</a:t>
            </a:r>
            <a:endParaRPr lang="en-US" sz="1050" dirty="0"/>
          </a:p>
        </p:txBody>
      </p:sp>
      <p:sp>
        <p:nvSpPr>
          <p:cNvPr id="34" name="Text 30"/>
          <p:cNvSpPr/>
          <p:nvPr/>
        </p:nvSpPr>
        <p:spPr>
          <a:xfrm>
            <a:off x="777240" y="5614416"/>
            <a:ext cx="2103120" cy="384048"/>
          </a:xfrm>
          <a:prstGeom prst="rect">
            <a:avLst/>
          </a:prstGeom>
          <a:noFill/>
          <a:ln/>
        </p:spPr>
        <p:txBody>
          <a:bodyPr wrap="square" rtlCol="0" anchor="ctr"/>
          <a:lstStyle/>
          <a:p>
            <a:pPr indent="0" marL="0">
              <a:buNone/>
            </a:pPr>
            <a:r>
              <a:rPr lang="en-US" sz="1050" b="1" dirty="0">
                <a:solidFill>
                  <a:srgbClr val="005A9E"/>
                </a:solidFill>
                <a:latin typeface="Segoe UI Semibold" pitchFamily="34" charset="0"/>
                <a:ea typeface="Segoe UI Semibold" pitchFamily="34" charset="-122"/>
                <a:cs typeface="Segoe UI Semibold" pitchFamily="34" charset="-120"/>
              </a:rPr>
              <a:t>Frontend</a:t>
            </a:r>
            <a:endParaRPr lang="en-US" sz="1050" dirty="0"/>
          </a:p>
        </p:txBody>
      </p:sp>
      <p:sp>
        <p:nvSpPr>
          <p:cNvPr id="35" name="Text 31"/>
          <p:cNvSpPr/>
          <p:nvPr/>
        </p:nvSpPr>
        <p:spPr>
          <a:xfrm>
            <a:off x="2834640" y="5614416"/>
            <a:ext cx="3291840" cy="384048"/>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Tailwind SPA dashboard (Chart.js)</a:t>
            </a:r>
            <a:endParaRPr lang="en-US" sz="1050" dirty="0"/>
          </a:p>
        </p:txBody>
      </p:sp>
      <p:sp>
        <p:nvSpPr>
          <p:cNvPr id="36" name="Text 32"/>
          <p:cNvSpPr/>
          <p:nvPr/>
        </p:nvSpPr>
        <p:spPr>
          <a:xfrm>
            <a:off x="6263640" y="5614416"/>
            <a:ext cx="2103120" cy="384048"/>
          </a:xfrm>
          <a:prstGeom prst="rect">
            <a:avLst/>
          </a:prstGeom>
          <a:noFill/>
          <a:ln/>
        </p:spPr>
        <p:txBody>
          <a:bodyPr wrap="square" rtlCol="0" anchor="ctr"/>
          <a:lstStyle/>
          <a:p>
            <a:pPr indent="0" marL="0">
              <a:buNone/>
            </a:pPr>
            <a:r>
              <a:rPr lang="en-US" sz="1050" b="1" dirty="0">
                <a:solidFill>
                  <a:srgbClr val="005A9E"/>
                </a:solidFill>
                <a:latin typeface="Segoe UI Semibold" pitchFamily="34" charset="0"/>
                <a:ea typeface="Segoe UI Semibold" pitchFamily="34" charset="-122"/>
                <a:cs typeface="Segoe UI Semibold" pitchFamily="34" charset="-120"/>
              </a:rPr>
              <a:t>DevOps</a:t>
            </a:r>
            <a:endParaRPr lang="en-US" sz="1050" dirty="0"/>
          </a:p>
        </p:txBody>
      </p:sp>
      <p:sp>
        <p:nvSpPr>
          <p:cNvPr id="37" name="Text 33"/>
          <p:cNvSpPr/>
          <p:nvPr/>
        </p:nvSpPr>
        <p:spPr>
          <a:xfrm>
            <a:off x="8321040" y="5614416"/>
            <a:ext cx="3291840" cy="384048"/>
          </a:xfrm>
          <a:prstGeom prst="rect">
            <a:avLst/>
          </a:prstGeom>
          <a:noFill/>
          <a:ln/>
        </p:spPr>
        <p:txBody>
          <a:bodyPr wrap="square"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Docker · GitHub Actions + Azure Pipelines · pytest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8"/>
        </a:solidFill>
      </p:bgPr>
    </p:bg>
    <p:spTree>
      <p:nvGrpSpPr>
        <p:cNvPr id="1" name=""/>
        <p:cNvGrpSpPr/>
        <p:nvPr/>
      </p:nvGrpSpPr>
      <p:grpSpPr>
        <a:xfrm>
          <a:off x="0" y="0"/>
          <a:ext cx="0" cy="0"/>
          <a:chOff x="0" y="0"/>
          <a:chExt cx="0" cy="0"/>
        </a:xfrm>
      </p:grpSpPr>
      <p:pic>
        <p:nvPicPr>
          <p:cNvPr id="2" name="Image 0" descr="assets/logo_shield.png">    </p:cNvPr>
          <p:cNvPicPr>
            <a:picLocks noChangeAspect="1"/>
          </p:cNvPicPr>
          <p:nvPr/>
        </p:nvPicPr>
        <p:blipFill>
          <a:blip r:embed="rId1"/>
          <a:stretch>
            <a:fillRect/>
          </a:stretch>
        </p:blipFill>
        <p:spPr>
          <a:xfrm>
            <a:off x="457200" y="310896"/>
            <a:ext cx="566928" cy="566928"/>
          </a:xfrm>
          <a:prstGeom prst="rect">
            <a:avLst/>
          </a:prstGeom>
        </p:spPr>
      </p:pic>
      <p:sp>
        <p:nvSpPr>
          <p:cNvPr id="3" name="Text 0"/>
          <p:cNvSpPr/>
          <p:nvPr/>
        </p:nvSpPr>
        <p:spPr>
          <a:xfrm>
            <a:off x="1170432" y="310896"/>
            <a:ext cx="10515600" cy="566928"/>
          </a:xfrm>
          <a:prstGeom prst="rect">
            <a:avLst/>
          </a:prstGeom>
          <a:noFill/>
          <a:ln/>
        </p:spPr>
        <p:txBody>
          <a:bodyPr wrap="square" rtlCol="0" anchor="ctr"/>
          <a:lstStyle/>
          <a:p>
            <a:pPr indent="0" marL="0">
              <a:buNone/>
            </a:pPr>
            <a:r>
              <a:rPr lang="en-US" sz="2600" b="1" dirty="0">
                <a:solidFill>
                  <a:srgbClr val="201F1E"/>
                </a:solidFill>
                <a:latin typeface="Segoe UI Semibold" pitchFamily="34" charset="0"/>
                <a:ea typeface="Segoe UI Semibold" pitchFamily="34" charset="-122"/>
                <a:cs typeface="Segoe UI Semibold" pitchFamily="34" charset="-120"/>
              </a:rPr>
              <a:t>Solution  —  Decisions, Implementation &amp; Scale</a:t>
            </a:r>
            <a:endParaRPr lang="en-US" sz="2600" dirty="0"/>
          </a:p>
        </p:txBody>
      </p:sp>
      <p:sp>
        <p:nvSpPr>
          <p:cNvPr id="4" name="Shape 1"/>
          <p:cNvSpPr/>
          <p:nvPr/>
        </p:nvSpPr>
        <p:spPr>
          <a:xfrm>
            <a:off x="1188720" y="969264"/>
            <a:ext cx="109728" cy="64008"/>
          </a:xfrm>
          <a:prstGeom prst="rect">
            <a:avLst/>
          </a:prstGeom>
          <a:solidFill>
            <a:srgbClr val="F25022"/>
          </a:solidFill>
          <a:ln/>
        </p:spPr>
      </p:sp>
      <p:sp>
        <p:nvSpPr>
          <p:cNvPr id="5" name="Shape 2"/>
          <p:cNvSpPr/>
          <p:nvPr/>
        </p:nvSpPr>
        <p:spPr>
          <a:xfrm>
            <a:off x="1335024" y="969264"/>
            <a:ext cx="109728" cy="64008"/>
          </a:xfrm>
          <a:prstGeom prst="rect">
            <a:avLst/>
          </a:prstGeom>
          <a:solidFill>
            <a:srgbClr val="7FBA00"/>
          </a:solidFill>
          <a:ln/>
        </p:spPr>
      </p:sp>
      <p:sp>
        <p:nvSpPr>
          <p:cNvPr id="6" name="Shape 3"/>
          <p:cNvSpPr/>
          <p:nvPr/>
        </p:nvSpPr>
        <p:spPr>
          <a:xfrm>
            <a:off x="1481328" y="969264"/>
            <a:ext cx="109728" cy="64008"/>
          </a:xfrm>
          <a:prstGeom prst="rect">
            <a:avLst/>
          </a:prstGeom>
          <a:solidFill>
            <a:srgbClr val="00A4EF"/>
          </a:solidFill>
          <a:ln/>
        </p:spPr>
      </p:sp>
      <p:sp>
        <p:nvSpPr>
          <p:cNvPr id="7" name="Shape 4"/>
          <p:cNvSpPr/>
          <p:nvPr/>
        </p:nvSpPr>
        <p:spPr>
          <a:xfrm>
            <a:off x="1627632" y="969264"/>
            <a:ext cx="109728" cy="64008"/>
          </a:xfrm>
          <a:prstGeom prst="rect">
            <a:avLst/>
          </a:prstGeom>
          <a:solidFill>
            <a:srgbClr val="FFB900"/>
          </a:solidFill>
          <a:ln/>
        </p:spPr>
      </p:sp>
      <p:sp>
        <p:nvSpPr>
          <p:cNvPr id="8" name="Text 5"/>
          <p:cNvSpPr/>
          <p:nvPr/>
        </p:nvSpPr>
        <p:spPr>
          <a:xfrm>
            <a:off x="457200" y="6355080"/>
            <a:ext cx="9875520" cy="292608"/>
          </a:xfrm>
          <a:prstGeom prst="rect">
            <a:avLst/>
          </a:prstGeom>
          <a:noFill/>
          <a:ln/>
        </p:spPr>
        <p:txBody>
          <a:bodyPr wrap="square" rtlCol="0" anchor="ctr"/>
          <a:lstStyle/>
          <a:p>
            <a:pPr algn="l" indent="0" marL="0">
              <a:buNone/>
            </a:pPr>
            <a:r>
              <a:rPr lang="en-US" sz="900" dirty="0">
                <a:solidFill>
                  <a:srgbClr val="8A8886"/>
                </a:solidFill>
                <a:latin typeface="Segoe UI" pitchFamily="34" charset="0"/>
                <a:ea typeface="Segoe UI" pitchFamily="34" charset="-122"/>
                <a:cs typeface="Segoe UI" pitchFamily="34" charset="-120"/>
              </a:rPr>
              <a:t>The Hallucinato  ·  Microsoft Hackathon — Theme 06: AI-Powered Production Function: Reinventing Work</a:t>
            </a:r>
            <a:endParaRPr lang="en-US" sz="900" dirty="0"/>
          </a:p>
        </p:txBody>
      </p:sp>
      <p:sp>
        <p:nvSpPr>
          <p:cNvPr id="9" name="Text 6"/>
          <p:cNvSpPr/>
          <p:nvPr/>
        </p:nvSpPr>
        <p:spPr>
          <a:xfrm>
            <a:off x="11064240" y="6355080"/>
            <a:ext cx="457200" cy="292608"/>
          </a:xfrm>
          <a:prstGeom prst="rect">
            <a:avLst/>
          </a:prstGeom>
          <a:noFill/>
          <a:ln/>
        </p:spPr>
        <p:txBody>
          <a:bodyPr wrap="square"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5</a:t>
            </a:r>
            <a:endParaRPr lang="en-US" sz="900" dirty="0"/>
          </a:p>
        </p:txBody>
      </p:sp>
      <p:pic>
        <p:nvPicPr>
          <p:cNvPr id="10" name="Image 1" descr="assets/logo_squares.png">    </p:cNvPr>
          <p:cNvPicPr>
            <a:picLocks noChangeAspect="1"/>
          </p:cNvPicPr>
          <p:nvPr/>
        </p:nvPicPr>
        <p:blipFill>
          <a:blip r:embed="rId2"/>
          <a:stretch>
            <a:fillRect/>
          </a:stretch>
        </p:blipFill>
        <p:spPr>
          <a:xfrm>
            <a:off x="11649456" y="6355080"/>
            <a:ext cx="292608" cy="292608"/>
          </a:xfrm>
          <a:prstGeom prst="rect">
            <a:avLst/>
          </a:prstGeom>
        </p:spPr>
      </p:pic>
      <p:sp>
        <p:nvSpPr>
          <p:cNvPr id="11" name="Shape 7"/>
          <p:cNvSpPr/>
          <p:nvPr/>
        </p:nvSpPr>
        <p:spPr>
          <a:xfrm>
            <a:off x="548640" y="1280160"/>
            <a:ext cx="5486400" cy="4846320"/>
          </a:xfrm>
          <a:prstGeom prst="roundRect">
            <a:avLst>
              <a:gd name="adj" fmla="val 1321"/>
            </a:avLst>
          </a:prstGeom>
          <a:solidFill>
            <a:srgbClr val="FFFFFF"/>
          </a:solidFill>
          <a:ln w="12700">
            <a:solidFill>
              <a:srgbClr val="E1DFDD"/>
            </a:solidFill>
            <a:prstDash val="solid"/>
          </a:ln>
        </p:spPr>
      </p:sp>
      <p:sp>
        <p:nvSpPr>
          <p:cNvPr id="12" name="Shape 8"/>
          <p:cNvSpPr/>
          <p:nvPr/>
        </p:nvSpPr>
        <p:spPr>
          <a:xfrm>
            <a:off x="548640" y="1280160"/>
            <a:ext cx="82296" cy="4846320"/>
          </a:xfrm>
          <a:prstGeom prst="roundRect">
            <a:avLst>
              <a:gd name="adj" fmla="val 44444"/>
            </a:avLst>
          </a:prstGeom>
          <a:solidFill>
            <a:srgbClr val="00A4EF"/>
          </a:solidFill>
          <a:ln/>
        </p:spPr>
      </p:sp>
      <p:sp>
        <p:nvSpPr>
          <p:cNvPr id="13" name="Text 9"/>
          <p:cNvSpPr/>
          <p:nvPr/>
        </p:nvSpPr>
        <p:spPr>
          <a:xfrm>
            <a:off x="777240" y="1371600"/>
            <a:ext cx="5029200" cy="320040"/>
          </a:xfrm>
          <a:prstGeom prst="rect">
            <a:avLst/>
          </a:prstGeom>
          <a:noFill/>
          <a:ln/>
        </p:spPr>
        <p:txBody>
          <a:bodyPr wrap="square" rtlCol="0" anchor="ctr"/>
          <a:lstStyle/>
          <a:p>
            <a:pPr indent="0" marL="0">
              <a:buNone/>
            </a:pPr>
            <a:r>
              <a:rPr lang="en-US" sz="1400" b="1" dirty="0">
                <a:solidFill>
                  <a:srgbClr val="201F1E"/>
                </a:solidFill>
                <a:latin typeface="Segoe UI Semibold" pitchFamily="34" charset="0"/>
                <a:ea typeface="Segoe UI Semibold" pitchFamily="34" charset="-122"/>
                <a:cs typeface="Segoe UI Semibold" pitchFamily="34" charset="-120"/>
              </a:rPr>
              <a:t>Assumptions, constraints &amp; decision points</a:t>
            </a:r>
            <a:endParaRPr lang="en-US" sz="1400" dirty="0"/>
          </a:p>
        </p:txBody>
      </p:sp>
      <p:sp>
        <p:nvSpPr>
          <p:cNvPr id="14" name="Text 10"/>
          <p:cNvSpPr/>
          <p:nvPr/>
        </p:nvSpPr>
        <p:spPr>
          <a:xfrm>
            <a:off x="777240" y="1783080"/>
            <a:ext cx="5029200" cy="4206240"/>
          </a:xfrm>
          <a:prstGeom prst="rect">
            <a:avLst/>
          </a:prstGeom>
          <a:noFill/>
          <a:ln/>
        </p:spPr>
        <p:txBody>
          <a:bodyPr wrap="square" rtlCol="0" anchor="t"/>
          <a:lstStyle/>
          <a:p>
            <a:pPr marL="177800" indent="-177800">
              <a:lnSpc>
                <a:spcPct val="105000"/>
              </a:lnSpc>
              <a:spcAft>
                <a:spcPts val="500"/>
              </a:spcAft>
              <a:buSzPct val="100000"/>
              <a:buChar char="•"/>
            </a:pPr>
            <a:r>
              <a:rPr lang="en-US" sz="1120" b="1" dirty="0">
                <a:solidFill>
                  <a:srgbClr val="201F1E"/>
                </a:solidFill>
                <a:latin typeface="Segoe UI" pitchFamily="34" charset="0"/>
                <a:ea typeface="Segoe UI" pitchFamily="34" charset="-122"/>
                <a:cs typeface="Segoe UI" pitchFamily="34" charset="-120"/>
              </a:rPr>
              <a:t>Zero-cost mandate</a:t>
            </a:r>
            <a:pPr indent="0" marL="0">
              <a:lnSpc>
                <a:spcPct val="105000"/>
              </a:lnSpc>
              <a:spcAft>
                <a:spcPts val="500"/>
              </a:spcAft>
              <a:buNone/>
            </a:pPr>
            <a:r>
              <a:rPr lang="en-US" sz="1120" dirty="0">
                <a:solidFill>
                  <a:srgbClr val="201F1E"/>
                </a:solidFill>
                <a:latin typeface="Segoe UI" pitchFamily="34" charset="0"/>
                <a:ea typeface="Segoe UI" pitchFamily="34" charset="-122"/>
                <a:cs typeface="Segoe UI" pitchFamily="34" charset="-120"/>
              </a:rPr>
              <a:t> → NVIDIA NIM free models + open-source tooling + GitHub free APIs.
</a:t>
            </a:r>
            <a:pPr indent="0" marL="0">
              <a:lnSpc>
                <a:spcPct val="105000"/>
              </a:lnSpc>
              <a:spcAft>
                <a:spcPts val="500"/>
              </a:spcAft>
              <a:buNone/>
            </a:pPr>
            <a:r>
              <a:rPr lang="en-US" sz="1120" b="1" dirty="0">
                <a:solidFill>
                  <a:srgbClr val="201F1E"/>
                </a:solidFill>
                <a:latin typeface="Segoe UI" pitchFamily="34" charset="0"/>
                <a:ea typeface="Segoe UI" pitchFamily="34" charset="-122"/>
                <a:cs typeface="Segoe UI" pitchFamily="34" charset="-120"/>
              </a:rPr>
              <a:t>SQLite + ChromaDB over Postgres</a:t>
            </a:r>
            <a:pPr indent="0" marL="0">
              <a:lnSpc>
                <a:spcPct val="105000"/>
              </a:lnSpc>
              <a:spcAft>
                <a:spcPts val="500"/>
              </a:spcAft>
              <a:buNone/>
            </a:pPr>
            <a:r>
              <a:rPr lang="en-US" sz="1120" dirty="0">
                <a:solidFill>
                  <a:srgbClr val="201F1E"/>
                </a:solidFill>
                <a:latin typeface="Segoe UI" pitchFamily="34" charset="0"/>
                <a:ea typeface="Segoe UI" pitchFamily="34" charset="-122"/>
                <a:cs typeface="Segoe UI" pitchFamily="34" charset="-120"/>
              </a:rPr>
              <a:t> → single deploy, no DB infra to manage.
</a:t>
            </a:r>
            <a:pPr indent="0" marL="0">
              <a:lnSpc>
                <a:spcPct val="105000"/>
              </a:lnSpc>
              <a:spcAft>
                <a:spcPts val="500"/>
              </a:spcAft>
              <a:buNone/>
            </a:pPr>
            <a:r>
              <a:rPr lang="en-US" sz="1120" b="1" dirty="0">
                <a:solidFill>
                  <a:srgbClr val="201F1E"/>
                </a:solidFill>
                <a:latin typeface="Segoe UI" pitchFamily="34" charset="0"/>
                <a:ea typeface="Segoe UI" pitchFamily="34" charset="-122"/>
                <a:cs typeface="Segoe UI" pitchFamily="34" charset="-120"/>
              </a:rPr>
              <a:t>Mock mode</a:t>
            </a:r>
            <a:pPr indent="0" marL="0">
              <a:lnSpc>
                <a:spcPct val="105000"/>
              </a:lnSpc>
              <a:spcAft>
                <a:spcPts val="500"/>
              </a:spcAft>
              <a:buNone/>
            </a:pPr>
            <a:r>
              <a:rPr lang="en-US" sz="1120" dirty="0">
                <a:solidFill>
                  <a:srgbClr val="201F1E"/>
                </a:solidFill>
                <a:latin typeface="Segoe UI" pitchFamily="34" charset="0"/>
                <a:ea typeface="Segoe UI" pitchFamily="34" charset="-122"/>
                <a:cs typeface="Segoe UI" pitchFamily="34" charset="-120"/>
              </a:rPr>
              <a:t> → any missing key auto-degrades that integration, so the full pipeline always runs offline and demos anywhere.
</a:t>
            </a:r>
            <a:pPr indent="0" marL="0">
              <a:lnSpc>
                <a:spcPct val="105000"/>
              </a:lnSpc>
              <a:spcAft>
                <a:spcPts val="500"/>
              </a:spcAft>
              <a:buNone/>
            </a:pPr>
            <a:r>
              <a:rPr lang="en-US" sz="1120" b="1" dirty="0">
                <a:solidFill>
                  <a:srgbClr val="201F1E"/>
                </a:solidFill>
                <a:latin typeface="Segoe UI" pitchFamily="34" charset="0"/>
                <a:ea typeface="Segoe UI" pitchFamily="34" charset="-122"/>
                <a:cs typeface="Segoe UI" pitchFamily="34" charset="-120"/>
              </a:rPr>
              <a:t>DTS never shown to managers</a:t>
            </a:r>
            <a:pPr indent="0" marL="0">
              <a:lnSpc>
                <a:spcPct val="105000"/>
              </a:lnSpc>
              <a:spcAft>
                <a:spcPts val="500"/>
              </a:spcAft>
              <a:buNone/>
            </a:pPr>
            <a:r>
              <a:rPr lang="en-US" sz="1120" dirty="0">
                <a:solidFill>
                  <a:srgbClr val="201F1E"/>
                </a:solidFill>
                <a:latin typeface="Segoe UI" pitchFamily="34" charset="0"/>
                <a:ea typeface="Segoe UI" pitchFamily="34" charset="-122"/>
                <a:cs typeface="Segoe UI" pitchFamily="34" charset="-120"/>
              </a:rPr>
              <a:t> → ethical by design; used only to route AI depth.
</a:t>
            </a:r>
            <a:pPr indent="0" marL="0">
              <a:lnSpc>
                <a:spcPct val="105000"/>
              </a:lnSpc>
              <a:spcAft>
                <a:spcPts val="500"/>
              </a:spcAft>
              <a:buNone/>
            </a:pPr>
            <a:r>
              <a:rPr lang="en-US" sz="1120" b="1" dirty="0">
                <a:solidFill>
                  <a:srgbClr val="201F1E"/>
                </a:solidFill>
                <a:latin typeface="Segoe UI" pitchFamily="34" charset="0"/>
                <a:ea typeface="Segoe UI" pitchFamily="34" charset="-122"/>
                <a:cs typeface="Segoe UI" pitchFamily="34" charset="-120"/>
              </a:rPr>
              <a:t>HMAC-verified webhooks</a:t>
            </a:r>
            <a:pPr indent="0" marL="0">
              <a:lnSpc>
                <a:spcPct val="105000"/>
              </a:lnSpc>
              <a:spcAft>
                <a:spcPts val="500"/>
              </a:spcAft>
              <a:buNone/>
            </a:pPr>
            <a:r>
              <a:rPr lang="en-US" sz="1120" dirty="0">
                <a:solidFill>
                  <a:srgbClr val="201F1E"/>
                </a:solidFill>
                <a:latin typeface="Segoe UI" pitchFamily="34" charset="0"/>
                <a:ea typeface="Segoe UI" pitchFamily="34" charset="-122"/>
                <a:cs typeface="Segoe UI" pitchFamily="34" charset="-120"/>
              </a:rPr>
              <a:t> → refuses requests when no secret is configured.
</a:t>
            </a:r>
            <a:pPr indent="0" marL="0">
              <a:lnSpc>
                <a:spcPct val="105000"/>
              </a:lnSpc>
              <a:spcAft>
                <a:spcPts val="500"/>
              </a:spcAft>
              <a:buNone/>
            </a:pPr>
            <a:r>
              <a:rPr lang="en-US" sz="1120" b="1" dirty="0">
                <a:solidFill>
                  <a:srgbClr val="201F1E"/>
                </a:solidFill>
                <a:latin typeface="Segoe UI" pitchFamily="34" charset="0"/>
                <a:ea typeface="Segoe UI" pitchFamily="34" charset="-122"/>
                <a:cs typeface="Segoe UI" pitchFamily="34" charset="-120"/>
              </a:rPr>
              <a:t>Resilient pipeline</a:t>
            </a:r>
            <a:pPr indent="0" marL="0">
              <a:lnSpc>
                <a:spcPct val="105000"/>
              </a:lnSpc>
              <a:spcAft>
                <a:spcPts val="500"/>
              </a:spcAft>
              <a:buNone/>
            </a:pPr>
            <a:r>
              <a:rPr lang="en-US" sz="1120" dirty="0">
                <a:solidFill>
                  <a:srgbClr val="201F1E"/>
                </a:solidFill>
                <a:latin typeface="Segoe UI" pitchFamily="34" charset="0"/>
                <a:ea typeface="Segoe UI" pitchFamily="34" charset="-122"/>
                <a:cs typeface="Segoe UI" pitchFamily="34" charset="-120"/>
              </a:rPr>
              <a:t> → a GitHub write-back failure never discards a completed review.</a:t>
            </a:r>
            <a:endParaRPr lang="en-US" sz="1120" dirty="0"/>
          </a:p>
        </p:txBody>
      </p:sp>
      <p:sp>
        <p:nvSpPr>
          <p:cNvPr id="15" name="Shape 11"/>
          <p:cNvSpPr/>
          <p:nvPr/>
        </p:nvSpPr>
        <p:spPr>
          <a:xfrm>
            <a:off x="6172200" y="1280160"/>
            <a:ext cx="5468112" cy="2331720"/>
          </a:xfrm>
          <a:prstGeom prst="roundRect">
            <a:avLst>
              <a:gd name="adj" fmla="val 2745"/>
            </a:avLst>
          </a:prstGeom>
          <a:solidFill>
            <a:srgbClr val="FFFFFF"/>
          </a:solidFill>
          <a:ln w="12700">
            <a:solidFill>
              <a:srgbClr val="E1DFDD"/>
            </a:solidFill>
            <a:prstDash val="solid"/>
          </a:ln>
        </p:spPr>
      </p:sp>
      <p:sp>
        <p:nvSpPr>
          <p:cNvPr id="16" name="Shape 12"/>
          <p:cNvSpPr/>
          <p:nvPr/>
        </p:nvSpPr>
        <p:spPr>
          <a:xfrm>
            <a:off x="6172200" y="1280160"/>
            <a:ext cx="82296" cy="2331720"/>
          </a:xfrm>
          <a:prstGeom prst="roundRect">
            <a:avLst>
              <a:gd name="adj" fmla="val 44444"/>
            </a:avLst>
          </a:prstGeom>
          <a:solidFill>
            <a:srgbClr val="7FBA00"/>
          </a:solidFill>
          <a:ln/>
        </p:spPr>
      </p:sp>
      <p:sp>
        <p:nvSpPr>
          <p:cNvPr id="17" name="Text 13"/>
          <p:cNvSpPr/>
          <p:nvPr/>
        </p:nvSpPr>
        <p:spPr>
          <a:xfrm>
            <a:off x="6400800" y="1371600"/>
            <a:ext cx="5029200" cy="320040"/>
          </a:xfrm>
          <a:prstGeom prst="rect">
            <a:avLst/>
          </a:prstGeom>
          <a:noFill/>
          <a:ln/>
        </p:spPr>
        <p:txBody>
          <a:bodyPr wrap="square" rtlCol="0" anchor="ctr"/>
          <a:lstStyle/>
          <a:p>
            <a:pPr indent="0" marL="0">
              <a:buNone/>
            </a:pPr>
            <a:r>
              <a:rPr lang="en-US" sz="1400" b="1" dirty="0">
                <a:solidFill>
                  <a:srgbClr val="201F1E"/>
                </a:solidFill>
                <a:latin typeface="Segoe UI Semibold" pitchFamily="34" charset="0"/>
                <a:ea typeface="Segoe UI Semibold" pitchFamily="34" charset="-122"/>
                <a:cs typeface="Segoe UI Semibold" pitchFamily="34" charset="-120"/>
              </a:rPr>
              <a:t>Ease of implementation &amp; effectiveness</a:t>
            </a:r>
            <a:endParaRPr lang="en-US" sz="1400" dirty="0"/>
          </a:p>
        </p:txBody>
      </p:sp>
      <p:sp>
        <p:nvSpPr>
          <p:cNvPr id="18" name="Text 14"/>
          <p:cNvSpPr/>
          <p:nvPr/>
        </p:nvSpPr>
        <p:spPr>
          <a:xfrm>
            <a:off x="6400800" y="1783080"/>
            <a:ext cx="5029200" cy="1828800"/>
          </a:xfrm>
          <a:prstGeom prst="rect">
            <a:avLst/>
          </a:prstGeom>
          <a:noFill/>
          <a:ln/>
        </p:spPr>
        <p:txBody>
          <a:bodyPr wrap="square" rtlCol="0" anchor="t"/>
          <a:lstStyle/>
          <a:p>
            <a:pPr marL="152400" indent="-152400">
              <a:lnSpc>
                <a:spcPct val="104000"/>
              </a:lnSpc>
              <a:buSzPct val="100000"/>
              <a:buChar char="•"/>
            </a:pPr>
            <a:r>
              <a:rPr lang="en-US" sz="1100" dirty="0">
                <a:solidFill>
                  <a:srgbClr val="201F1E"/>
                </a:solidFill>
                <a:latin typeface="Segoe UI" pitchFamily="34" charset="0"/>
                <a:ea typeface="Segoe UI" pitchFamily="34" charset="-122"/>
                <a:cs typeface="Segoe UI" pitchFamily="34" charset="-120"/>
              </a:rPr>
              <a:t>Connect a repo by adding one webhook (or a GitHub App for an org).</a:t>
            </a:r>
            <a:endParaRPr lang="en-US" sz="1100" dirty="0"/>
          </a:p>
          <a:p>
            <a:pPr marL="152400" indent="-152400">
              <a:lnSpc>
                <a:spcPct val="104000"/>
              </a:lnSpc>
              <a:buSzPct val="100000"/>
              <a:buChar char="•"/>
            </a:pPr>
            <a:r>
              <a:rPr lang="en-US" sz="1100" dirty="0">
                <a:solidFill>
                  <a:srgbClr val="201F1E"/>
                </a:solidFill>
                <a:latin typeface="Segoe UI" pitchFamily="34" charset="0"/>
                <a:ea typeface="Segoe UI" pitchFamily="34" charset="-122"/>
                <a:cs typeface="Segoe UI" pitchFamily="34" charset="-120"/>
              </a:rPr>
              <a:t>Runs offline in mock mode with zero keys; 28 automated tests pass.</a:t>
            </a:r>
            <a:endParaRPr lang="en-US" sz="1100" dirty="0"/>
          </a:p>
          <a:p>
            <a:pPr marL="152400" indent="-152400">
              <a:lnSpc>
                <a:spcPct val="104000"/>
              </a:lnSpc>
              <a:buSzPct val="100000"/>
              <a:buChar char="•"/>
            </a:pPr>
            <a:r>
              <a:rPr lang="en-US" sz="1100" dirty="0">
                <a:solidFill>
                  <a:srgbClr val="201F1E"/>
                </a:solidFill>
                <a:latin typeface="Segoe UI" pitchFamily="34" charset="0"/>
                <a:ea typeface="Segoe UI" pitchFamily="34" charset="-122"/>
                <a:cs typeface="Segoe UI" pitchFamily="34" charset="-120"/>
              </a:rPr>
              <a:t>Proven live end-to-end: a real GitHub PR got 3 inline comments + a red merge-gate + Discord alert in ~40s.</a:t>
            </a:r>
            <a:endParaRPr lang="en-US" sz="1100" dirty="0"/>
          </a:p>
          <a:p>
            <a:pPr marL="152400" indent="-152400">
              <a:lnSpc>
                <a:spcPct val="104000"/>
              </a:lnSpc>
              <a:buSzPct val="100000"/>
              <a:buChar char="•"/>
            </a:pPr>
            <a:r>
              <a:rPr lang="en-US" sz="1100" dirty="0">
                <a:solidFill>
                  <a:srgbClr val="201F1E"/>
                </a:solidFill>
                <a:latin typeface="Segoe UI" pitchFamily="34" charset="0"/>
                <a:ea typeface="Segoe UI" pitchFamily="34" charset="-122"/>
                <a:cs typeface="Segoe UI" pitchFamily="34" charset="-120"/>
              </a:rPr>
              <a:t>Caught real vulnerabilities: SQL injection, hardcoded secret, MD5, disabled TLS.</a:t>
            </a:r>
            <a:endParaRPr lang="en-US" sz="1100" dirty="0"/>
          </a:p>
        </p:txBody>
      </p:sp>
      <p:sp>
        <p:nvSpPr>
          <p:cNvPr id="19" name="Shape 15"/>
          <p:cNvSpPr/>
          <p:nvPr/>
        </p:nvSpPr>
        <p:spPr>
          <a:xfrm>
            <a:off x="6172200" y="3794760"/>
            <a:ext cx="5468112" cy="2331720"/>
          </a:xfrm>
          <a:prstGeom prst="roundRect">
            <a:avLst>
              <a:gd name="adj" fmla="val 2745"/>
            </a:avLst>
          </a:prstGeom>
          <a:solidFill>
            <a:srgbClr val="FFFFFF"/>
          </a:solidFill>
          <a:ln w="12700">
            <a:solidFill>
              <a:srgbClr val="E1DFDD"/>
            </a:solidFill>
            <a:prstDash val="solid"/>
          </a:ln>
        </p:spPr>
      </p:sp>
      <p:sp>
        <p:nvSpPr>
          <p:cNvPr id="20" name="Shape 16"/>
          <p:cNvSpPr/>
          <p:nvPr/>
        </p:nvSpPr>
        <p:spPr>
          <a:xfrm>
            <a:off x="6172200" y="3794760"/>
            <a:ext cx="82296" cy="2331720"/>
          </a:xfrm>
          <a:prstGeom prst="roundRect">
            <a:avLst>
              <a:gd name="adj" fmla="val 44444"/>
            </a:avLst>
          </a:prstGeom>
          <a:solidFill>
            <a:srgbClr val="FFB900"/>
          </a:solidFill>
          <a:ln/>
        </p:spPr>
      </p:sp>
      <p:sp>
        <p:nvSpPr>
          <p:cNvPr id="21" name="Text 17"/>
          <p:cNvSpPr/>
          <p:nvPr/>
        </p:nvSpPr>
        <p:spPr>
          <a:xfrm>
            <a:off x="6400800" y="3886200"/>
            <a:ext cx="5029200" cy="320040"/>
          </a:xfrm>
          <a:prstGeom prst="rect">
            <a:avLst/>
          </a:prstGeom>
          <a:noFill/>
          <a:ln/>
        </p:spPr>
        <p:txBody>
          <a:bodyPr wrap="square" rtlCol="0" anchor="ctr"/>
          <a:lstStyle/>
          <a:p>
            <a:pPr indent="0" marL="0">
              <a:buNone/>
            </a:pPr>
            <a:r>
              <a:rPr lang="en-US" sz="1400" b="1" dirty="0">
                <a:solidFill>
                  <a:srgbClr val="201F1E"/>
                </a:solidFill>
                <a:latin typeface="Segoe UI Semibold" pitchFamily="34" charset="0"/>
                <a:ea typeface="Segoe UI Semibold" pitchFamily="34" charset="-122"/>
                <a:cs typeface="Segoe UI Semibold" pitchFamily="34" charset="-120"/>
              </a:rPr>
              <a:t>Scalability &amp; usability</a:t>
            </a:r>
            <a:endParaRPr lang="en-US" sz="1400" dirty="0"/>
          </a:p>
        </p:txBody>
      </p:sp>
      <p:sp>
        <p:nvSpPr>
          <p:cNvPr id="22" name="Text 18"/>
          <p:cNvSpPr/>
          <p:nvPr/>
        </p:nvSpPr>
        <p:spPr>
          <a:xfrm>
            <a:off x="6400800" y="4297680"/>
            <a:ext cx="5029200" cy="1737360"/>
          </a:xfrm>
          <a:prstGeom prst="rect">
            <a:avLst/>
          </a:prstGeom>
          <a:noFill/>
          <a:ln/>
        </p:spPr>
        <p:txBody>
          <a:bodyPr wrap="square" rtlCol="0" anchor="t"/>
          <a:lstStyle/>
          <a:p>
            <a:pPr marL="152400" indent="-152400">
              <a:lnSpc>
                <a:spcPct val="104000"/>
              </a:lnSpc>
              <a:buSzPct val="100000"/>
              <a:buChar char="•"/>
            </a:pPr>
            <a:r>
              <a:rPr lang="en-US" sz="1100" dirty="0">
                <a:solidFill>
                  <a:srgbClr val="201F1E"/>
                </a:solidFill>
                <a:latin typeface="Segoe UI" pitchFamily="34" charset="0"/>
                <a:ea typeface="Segoe UI" pitchFamily="34" charset="-122"/>
                <a:cs typeface="Segoe UI" pitchFamily="34" charset="-120"/>
              </a:rPr>
              <a:t>Per-repo DNA profiles + dashboard repo filter → many repos stay cleanly attributed.</a:t>
            </a:r>
            <a:endParaRPr lang="en-US" sz="1100" dirty="0"/>
          </a:p>
          <a:p>
            <a:pPr marL="152400" indent="-152400">
              <a:lnSpc>
                <a:spcPct val="104000"/>
              </a:lnSpc>
              <a:buSzPct val="100000"/>
              <a:buChar char="•"/>
            </a:pPr>
            <a:r>
              <a:rPr lang="en-US" sz="1100" dirty="0">
                <a:solidFill>
                  <a:srgbClr val="201F1E"/>
                </a:solidFill>
                <a:latin typeface="Segoe UI" pitchFamily="34" charset="0"/>
                <a:ea typeface="Segoe UI" pitchFamily="34" charset="-122"/>
                <a:cs typeface="Segoe UI" pitchFamily="34" charset="-120"/>
              </a:rPr>
              <a:t>GitHub App install model for org-scale onboarding (no per-repo collaborator adds).</a:t>
            </a:r>
            <a:endParaRPr lang="en-US" sz="1100" dirty="0"/>
          </a:p>
          <a:p>
            <a:pPr marL="152400" indent="-152400">
              <a:lnSpc>
                <a:spcPct val="104000"/>
              </a:lnSpc>
              <a:buSzPct val="100000"/>
              <a:buChar char="•"/>
            </a:pPr>
            <a:r>
              <a:rPr lang="en-US" sz="1100" dirty="0">
                <a:solidFill>
                  <a:srgbClr val="201F1E"/>
                </a:solidFill>
                <a:latin typeface="Segoe UI" pitchFamily="34" charset="0"/>
                <a:ea typeface="Segoe UI" pitchFamily="34" charset="-122"/>
                <a:cs typeface="Segoe UI" pitchFamily="34" charset="-120"/>
              </a:rPr>
              <a:t>Stateless pipeline stages; WAL SQLite handles concurrent webhook + background jobs.</a:t>
            </a:r>
            <a:endParaRPr lang="en-US" sz="1100" dirty="0"/>
          </a:p>
          <a:p>
            <a:pPr marL="152400" indent="-152400">
              <a:lnSpc>
                <a:spcPct val="104000"/>
              </a:lnSpc>
              <a:buSzPct val="100000"/>
              <a:buChar char="•"/>
            </a:pPr>
            <a:r>
              <a:rPr lang="en-US" sz="1100" dirty="0">
                <a:solidFill>
                  <a:srgbClr val="201F1E"/>
                </a:solidFill>
                <a:latin typeface="Segoe UI" pitchFamily="34" charset="0"/>
                <a:ea typeface="Segoe UI" pitchFamily="34" charset="-122"/>
                <a:cs typeface="Segoe UI" pitchFamily="34" charset="-120"/>
              </a:rPr>
              <a:t>Real-time dashboard (5s auto-refresh) + Microsoft 365 Fluent UI for instant usability.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8"/>
        </a:solidFill>
      </p:bgPr>
    </p:bg>
    <p:spTree>
      <p:nvGrpSpPr>
        <p:cNvPr id="1" name=""/>
        <p:cNvGrpSpPr/>
        <p:nvPr/>
      </p:nvGrpSpPr>
      <p:grpSpPr>
        <a:xfrm>
          <a:off x="0" y="0"/>
          <a:ext cx="0" cy="0"/>
          <a:chOff x="0" y="0"/>
          <a:chExt cx="0" cy="0"/>
        </a:xfrm>
      </p:grpSpPr>
      <p:pic>
        <p:nvPicPr>
          <p:cNvPr id="2" name="Image 0" descr="assets/logo_shield.png">    </p:cNvPr>
          <p:cNvPicPr>
            <a:picLocks noChangeAspect="1"/>
          </p:cNvPicPr>
          <p:nvPr/>
        </p:nvPicPr>
        <p:blipFill>
          <a:blip r:embed="rId1"/>
          <a:stretch>
            <a:fillRect/>
          </a:stretch>
        </p:blipFill>
        <p:spPr>
          <a:xfrm>
            <a:off x="457200" y="310896"/>
            <a:ext cx="566928" cy="566928"/>
          </a:xfrm>
          <a:prstGeom prst="rect">
            <a:avLst/>
          </a:prstGeom>
        </p:spPr>
      </p:pic>
      <p:sp>
        <p:nvSpPr>
          <p:cNvPr id="3" name="Text 0"/>
          <p:cNvSpPr/>
          <p:nvPr/>
        </p:nvSpPr>
        <p:spPr>
          <a:xfrm>
            <a:off x="1170432" y="310896"/>
            <a:ext cx="10515600" cy="566928"/>
          </a:xfrm>
          <a:prstGeom prst="rect">
            <a:avLst/>
          </a:prstGeom>
          <a:noFill/>
          <a:ln/>
        </p:spPr>
        <p:txBody>
          <a:bodyPr wrap="square" rtlCol="0" anchor="ctr"/>
          <a:lstStyle/>
          <a:p>
            <a:pPr indent="0" marL="0">
              <a:buNone/>
            </a:pPr>
            <a:r>
              <a:rPr lang="en-US" sz="2600" b="1" dirty="0">
                <a:solidFill>
                  <a:srgbClr val="201F1E"/>
                </a:solidFill>
                <a:latin typeface="Segoe UI Semibold" pitchFamily="34" charset="0"/>
                <a:ea typeface="Segoe UI Semibold" pitchFamily="34" charset="-122"/>
                <a:cs typeface="Segoe UI Semibold" pitchFamily="34" charset="-120"/>
              </a:rPr>
              <a:t>Methodology  —  Concept &amp; Architecture</a:t>
            </a:r>
            <a:endParaRPr lang="en-US" sz="2600" dirty="0"/>
          </a:p>
        </p:txBody>
      </p:sp>
      <p:sp>
        <p:nvSpPr>
          <p:cNvPr id="4" name="Shape 1"/>
          <p:cNvSpPr/>
          <p:nvPr/>
        </p:nvSpPr>
        <p:spPr>
          <a:xfrm>
            <a:off x="1188720" y="969264"/>
            <a:ext cx="109728" cy="64008"/>
          </a:xfrm>
          <a:prstGeom prst="rect">
            <a:avLst/>
          </a:prstGeom>
          <a:solidFill>
            <a:srgbClr val="F25022"/>
          </a:solidFill>
          <a:ln/>
        </p:spPr>
      </p:sp>
      <p:sp>
        <p:nvSpPr>
          <p:cNvPr id="5" name="Shape 2"/>
          <p:cNvSpPr/>
          <p:nvPr/>
        </p:nvSpPr>
        <p:spPr>
          <a:xfrm>
            <a:off x="1335024" y="969264"/>
            <a:ext cx="109728" cy="64008"/>
          </a:xfrm>
          <a:prstGeom prst="rect">
            <a:avLst/>
          </a:prstGeom>
          <a:solidFill>
            <a:srgbClr val="7FBA00"/>
          </a:solidFill>
          <a:ln/>
        </p:spPr>
      </p:sp>
      <p:sp>
        <p:nvSpPr>
          <p:cNvPr id="6" name="Shape 3"/>
          <p:cNvSpPr/>
          <p:nvPr/>
        </p:nvSpPr>
        <p:spPr>
          <a:xfrm>
            <a:off x="1481328" y="969264"/>
            <a:ext cx="109728" cy="64008"/>
          </a:xfrm>
          <a:prstGeom prst="rect">
            <a:avLst/>
          </a:prstGeom>
          <a:solidFill>
            <a:srgbClr val="00A4EF"/>
          </a:solidFill>
          <a:ln/>
        </p:spPr>
      </p:sp>
      <p:sp>
        <p:nvSpPr>
          <p:cNvPr id="7" name="Shape 4"/>
          <p:cNvSpPr/>
          <p:nvPr/>
        </p:nvSpPr>
        <p:spPr>
          <a:xfrm>
            <a:off x="1627632" y="969264"/>
            <a:ext cx="109728" cy="64008"/>
          </a:xfrm>
          <a:prstGeom prst="rect">
            <a:avLst/>
          </a:prstGeom>
          <a:solidFill>
            <a:srgbClr val="FFB900"/>
          </a:solidFill>
          <a:ln/>
        </p:spPr>
      </p:sp>
      <p:sp>
        <p:nvSpPr>
          <p:cNvPr id="8" name="Text 5"/>
          <p:cNvSpPr/>
          <p:nvPr/>
        </p:nvSpPr>
        <p:spPr>
          <a:xfrm>
            <a:off x="457200" y="6355080"/>
            <a:ext cx="9875520" cy="292608"/>
          </a:xfrm>
          <a:prstGeom prst="rect">
            <a:avLst/>
          </a:prstGeom>
          <a:noFill/>
          <a:ln/>
        </p:spPr>
        <p:txBody>
          <a:bodyPr wrap="square" rtlCol="0" anchor="ctr"/>
          <a:lstStyle/>
          <a:p>
            <a:pPr algn="l" indent="0" marL="0">
              <a:buNone/>
            </a:pPr>
            <a:r>
              <a:rPr lang="en-US" sz="900" dirty="0">
                <a:solidFill>
                  <a:srgbClr val="8A8886"/>
                </a:solidFill>
                <a:latin typeface="Segoe UI" pitchFamily="34" charset="0"/>
                <a:ea typeface="Segoe UI" pitchFamily="34" charset="-122"/>
                <a:cs typeface="Segoe UI" pitchFamily="34" charset="-120"/>
              </a:rPr>
              <a:t>The Hallucinato  ·  Microsoft Hackathon — Theme 06: AI-Powered Production Function: Reinventing Work</a:t>
            </a:r>
            <a:endParaRPr lang="en-US" sz="900" dirty="0"/>
          </a:p>
        </p:txBody>
      </p:sp>
      <p:sp>
        <p:nvSpPr>
          <p:cNvPr id="9" name="Text 6"/>
          <p:cNvSpPr/>
          <p:nvPr/>
        </p:nvSpPr>
        <p:spPr>
          <a:xfrm>
            <a:off x="11064240" y="6355080"/>
            <a:ext cx="457200" cy="292608"/>
          </a:xfrm>
          <a:prstGeom prst="rect">
            <a:avLst/>
          </a:prstGeom>
          <a:noFill/>
          <a:ln/>
        </p:spPr>
        <p:txBody>
          <a:bodyPr wrap="square"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6</a:t>
            </a:r>
            <a:endParaRPr lang="en-US" sz="900" dirty="0"/>
          </a:p>
        </p:txBody>
      </p:sp>
      <p:pic>
        <p:nvPicPr>
          <p:cNvPr id="10" name="Image 1" descr="assets/logo_squares.png">    </p:cNvPr>
          <p:cNvPicPr>
            <a:picLocks noChangeAspect="1"/>
          </p:cNvPicPr>
          <p:nvPr/>
        </p:nvPicPr>
        <p:blipFill>
          <a:blip r:embed="rId2"/>
          <a:stretch>
            <a:fillRect/>
          </a:stretch>
        </p:blipFill>
        <p:spPr>
          <a:xfrm>
            <a:off x="11649456" y="6355080"/>
            <a:ext cx="292608" cy="292608"/>
          </a:xfrm>
          <a:prstGeom prst="rect">
            <a:avLst/>
          </a:prstGeom>
        </p:spPr>
      </p:pic>
      <p:sp>
        <p:nvSpPr>
          <p:cNvPr id="11" name="Shape 7"/>
          <p:cNvSpPr/>
          <p:nvPr/>
        </p:nvSpPr>
        <p:spPr>
          <a:xfrm>
            <a:off x="548640" y="1280160"/>
            <a:ext cx="3657600" cy="4846320"/>
          </a:xfrm>
          <a:prstGeom prst="roundRect">
            <a:avLst>
              <a:gd name="adj" fmla="val 1750"/>
            </a:avLst>
          </a:prstGeom>
          <a:solidFill>
            <a:srgbClr val="FFFFFF"/>
          </a:solidFill>
          <a:ln w="12700">
            <a:solidFill>
              <a:srgbClr val="E1DFDD"/>
            </a:solidFill>
            <a:prstDash val="solid"/>
          </a:ln>
        </p:spPr>
      </p:sp>
      <p:sp>
        <p:nvSpPr>
          <p:cNvPr id="12" name="Shape 8"/>
          <p:cNvSpPr/>
          <p:nvPr/>
        </p:nvSpPr>
        <p:spPr>
          <a:xfrm>
            <a:off x="548640" y="1280160"/>
            <a:ext cx="82296" cy="4846320"/>
          </a:xfrm>
          <a:prstGeom prst="roundRect">
            <a:avLst>
              <a:gd name="adj" fmla="val 44444"/>
            </a:avLst>
          </a:prstGeom>
          <a:solidFill>
            <a:srgbClr val="0078D4"/>
          </a:solidFill>
          <a:ln/>
        </p:spPr>
      </p:sp>
      <p:sp>
        <p:nvSpPr>
          <p:cNvPr id="13" name="Text 9"/>
          <p:cNvSpPr/>
          <p:nvPr/>
        </p:nvSpPr>
        <p:spPr>
          <a:xfrm>
            <a:off x="749808" y="1371600"/>
            <a:ext cx="3291840" cy="292608"/>
          </a:xfrm>
          <a:prstGeom prst="rect">
            <a:avLst/>
          </a:prstGeom>
          <a:noFill/>
          <a:ln/>
        </p:spPr>
        <p:txBody>
          <a:bodyPr wrap="square" rtlCol="0" anchor="ctr"/>
          <a:lstStyle/>
          <a:p>
            <a:pPr indent="0" marL="0">
              <a:buNone/>
            </a:pPr>
            <a:r>
              <a:rPr lang="en-US" sz="1300" b="1" dirty="0">
                <a:solidFill>
                  <a:srgbClr val="005A9E"/>
                </a:solidFill>
                <a:latin typeface="Segoe UI Semibold" pitchFamily="34" charset="0"/>
                <a:ea typeface="Segoe UI Semibold" pitchFamily="34" charset="-122"/>
                <a:cs typeface="Segoe UI Semibold" pitchFamily="34" charset="-120"/>
              </a:rPr>
              <a:t>Core concept</a:t>
            </a:r>
            <a:endParaRPr lang="en-US" sz="1300" dirty="0"/>
          </a:p>
        </p:txBody>
      </p:sp>
      <p:sp>
        <p:nvSpPr>
          <p:cNvPr id="14" name="Text 10"/>
          <p:cNvSpPr/>
          <p:nvPr/>
        </p:nvSpPr>
        <p:spPr>
          <a:xfrm>
            <a:off x="749808" y="1664208"/>
            <a:ext cx="3291840" cy="914400"/>
          </a:xfrm>
          <a:prstGeom prst="rect">
            <a:avLst/>
          </a:prstGeom>
          <a:noFill/>
          <a:ln/>
        </p:spPr>
        <p:txBody>
          <a:bodyPr wrap="square" rtlCol="0" anchor="t"/>
          <a:lstStyle/>
          <a:p>
            <a:pPr indent="0" marL="0">
              <a:lnSpc>
                <a:spcPct val="105000"/>
              </a:lnSpc>
              <a:buNone/>
            </a:pPr>
            <a:r>
              <a:rPr lang="en-US" sz="1100" dirty="0">
                <a:solidFill>
                  <a:srgbClr val="201F1E"/>
                </a:solidFill>
                <a:latin typeface="Segoe UI" pitchFamily="34" charset="0"/>
                <a:ea typeface="Segoe UI" pitchFamily="34" charset="-122"/>
                <a:cs typeface="Segoe UI" pitchFamily="34" charset="-120"/>
              </a:rPr>
              <a:t>A three-layer adaptive pipeline that puts stateful, per-developer intelligence between the pull request and the deploy gate.</a:t>
            </a:r>
            <a:endParaRPr lang="en-US" sz="1100" dirty="0"/>
          </a:p>
        </p:txBody>
      </p:sp>
      <p:sp>
        <p:nvSpPr>
          <p:cNvPr id="15" name="Text 11"/>
          <p:cNvSpPr/>
          <p:nvPr/>
        </p:nvSpPr>
        <p:spPr>
          <a:xfrm>
            <a:off x="749808" y="2697480"/>
            <a:ext cx="3291840" cy="292608"/>
          </a:xfrm>
          <a:prstGeom prst="rect">
            <a:avLst/>
          </a:prstGeom>
          <a:noFill/>
          <a:ln/>
        </p:spPr>
        <p:txBody>
          <a:bodyPr wrap="square" rtlCol="0" anchor="ctr"/>
          <a:lstStyle/>
          <a:p>
            <a:pPr indent="0" marL="0">
              <a:buNone/>
            </a:pPr>
            <a:r>
              <a:rPr lang="en-US" sz="1300" b="1" dirty="0">
                <a:solidFill>
                  <a:srgbClr val="005A9E"/>
                </a:solidFill>
                <a:latin typeface="Segoe UI Semibold" pitchFamily="34" charset="0"/>
                <a:ea typeface="Segoe UI Semibold" pitchFamily="34" charset="-122"/>
                <a:cs typeface="Segoe UI Semibold" pitchFamily="34" charset="-120"/>
              </a:rPr>
              <a:t>Design principles</a:t>
            </a:r>
            <a:endParaRPr lang="en-US" sz="1300" dirty="0"/>
          </a:p>
        </p:txBody>
      </p:sp>
      <p:sp>
        <p:nvSpPr>
          <p:cNvPr id="16" name="Text 12"/>
          <p:cNvSpPr/>
          <p:nvPr/>
        </p:nvSpPr>
        <p:spPr>
          <a:xfrm>
            <a:off x="749808" y="2999232"/>
            <a:ext cx="3291840" cy="1645920"/>
          </a:xfrm>
          <a:prstGeom prst="rect">
            <a:avLst/>
          </a:prstGeom>
          <a:noFill/>
          <a:ln/>
        </p:spPr>
        <p:txBody>
          <a:bodyPr wrap="square" rtlCol="0" anchor="t"/>
          <a:lstStyle/>
          <a:p>
            <a:pPr marL="152400" indent="-152400">
              <a:lnSpc>
                <a:spcPct val="105000"/>
              </a:lnSpc>
              <a:spcAft>
                <a:spcPts val="400"/>
              </a:spcAft>
              <a:buSzPct val="100000"/>
              <a:buChar char="•"/>
            </a:pPr>
            <a:r>
              <a:rPr lang="en-US" sz="1100" b="1" dirty="0">
                <a:solidFill>
                  <a:srgbClr val="201F1E"/>
                </a:solidFill>
                <a:latin typeface="Segoe UI" pitchFamily="34" charset="0"/>
                <a:ea typeface="Segoe UI" pitchFamily="34" charset="-122"/>
                <a:cs typeface="Segoe UI" pitchFamily="34" charset="-120"/>
              </a:rPr>
              <a:t>Explainable</a:t>
            </a:r>
            <a:pPr indent="0" marL="0">
              <a:lnSpc>
                <a:spcPct val="105000"/>
              </a:lnSpc>
              <a:spcAft>
                <a:spcPts val="400"/>
              </a:spcAft>
              <a:buNone/>
            </a:pPr>
            <a:r>
              <a:rPr lang="en-US" sz="1100" dirty="0">
                <a:solidFill>
                  <a:srgbClr val="201F1E"/>
                </a:solidFill>
                <a:latin typeface="Segoe UI" pitchFamily="34" charset="0"/>
                <a:ea typeface="Segoe UI" pitchFamily="34" charset="-122"/>
                <a:cs typeface="Segoe UI" pitchFamily="34" charset="-120"/>
              </a:rPr>
              <a:t> — every score &amp; finding has a reason.
</a:t>
            </a:r>
            <a:pPr indent="0" marL="0">
              <a:lnSpc>
                <a:spcPct val="105000"/>
              </a:lnSpc>
              <a:spcAft>
                <a:spcPts val="400"/>
              </a:spcAft>
              <a:buNone/>
            </a:pPr>
            <a:r>
              <a:rPr lang="en-US" sz="1100" b="1" dirty="0">
                <a:solidFill>
                  <a:srgbClr val="201F1E"/>
                </a:solidFill>
                <a:latin typeface="Segoe UI" pitchFamily="34" charset="0"/>
                <a:ea typeface="Segoe UI" pitchFamily="34" charset="-122"/>
                <a:cs typeface="Segoe UI" pitchFamily="34" charset="-120"/>
              </a:rPr>
              <a:t>Adaptive</a:t>
            </a:r>
            <a:pPr indent="0" marL="0">
              <a:lnSpc>
                <a:spcPct val="105000"/>
              </a:lnSpc>
              <a:spcAft>
                <a:spcPts val="400"/>
              </a:spcAft>
              <a:buNone/>
            </a:pPr>
            <a:r>
              <a:rPr lang="en-US" sz="1100" dirty="0">
                <a:solidFill>
                  <a:srgbClr val="201F1E"/>
                </a:solidFill>
                <a:latin typeface="Segoe UI" pitchFamily="34" charset="0"/>
                <a:ea typeface="Segoe UI" pitchFamily="34" charset="-122"/>
                <a:cs typeface="Segoe UI" pitchFamily="34" charset="-120"/>
              </a:rPr>
              <a:t> — review depth scales with risk.
</a:t>
            </a:r>
            <a:pPr indent="0" marL="0">
              <a:lnSpc>
                <a:spcPct val="105000"/>
              </a:lnSpc>
              <a:spcAft>
                <a:spcPts val="400"/>
              </a:spcAft>
              <a:buNone/>
            </a:pPr>
            <a:r>
              <a:rPr lang="en-US" sz="1100" b="1" dirty="0">
                <a:solidFill>
                  <a:srgbClr val="201F1E"/>
                </a:solidFill>
                <a:latin typeface="Segoe UI" pitchFamily="34" charset="0"/>
                <a:ea typeface="Segoe UI" pitchFamily="34" charset="-122"/>
                <a:cs typeface="Segoe UI" pitchFamily="34" charset="-120"/>
              </a:rPr>
              <a:t>Team-specific</a:t>
            </a:r>
            <a:pPr indent="0" marL="0">
              <a:lnSpc>
                <a:spcPct val="105000"/>
              </a:lnSpc>
              <a:spcAft>
                <a:spcPts val="400"/>
              </a:spcAft>
              <a:buNone/>
            </a:pPr>
            <a:r>
              <a:rPr lang="en-US" sz="1100" dirty="0">
                <a:solidFill>
                  <a:srgbClr val="201F1E"/>
                </a:solidFill>
                <a:latin typeface="Segoe UI" pitchFamily="34" charset="0"/>
                <a:ea typeface="Segoe UI" pitchFamily="34" charset="-122"/>
                <a:cs typeface="Segoe UI" pitchFamily="34" charset="-120"/>
              </a:rPr>
              <a:t> — learns YOUR DNA, not generic rules.
</a:t>
            </a:r>
            <a:pPr indent="0" marL="0">
              <a:lnSpc>
                <a:spcPct val="105000"/>
              </a:lnSpc>
              <a:spcAft>
                <a:spcPts val="400"/>
              </a:spcAft>
              <a:buNone/>
            </a:pPr>
            <a:r>
              <a:rPr lang="en-US" sz="1100" b="1" dirty="0">
                <a:solidFill>
                  <a:srgbClr val="201F1E"/>
                </a:solidFill>
                <a:latin typeface="Segoe UI" pitchFamily="34" charset="0"/>
                <a:ea typeface="Segoe UI" pitchFamily="34" charset="-122"/>
                <a:cs typeface="Segoe UI" pitchFamily="34" charset="-120"/>
              </a:rPr>
              <a:t>Graceful</a:t>
            </a:r>
            <a:pPr indent="0" marL="0">
              <a:lnSpc>
                <a:spcPct val="105000"/>
              </a:lnSpc>
              <a:spcAft>
                <a:spcPts val="400"/>
              </a:spcAft>
              <a:buNone/>
            </a:pPr>
            <a:r>
              <a:rPr lang="en-US" sz="1100" dirty="0">
                <a:solidFill>
                  <a:srgbClr val="201F1E"/>
                </a:solidFill>
                <a:latin typeface="Segoe UI" pitchFamily="34" charset="0"/>
                <a:ea typeface="Segoe UI" pitchFamily="34" charset="-122"/>
                <a:cs typeface="Segoe UI" pitchFamily="34" charset="-120"/>
              </a:rPr>
              <a:t> — mock mode keeps it always-on.</a:t>
            </a:r>
            <a:endParaRPr lang="en-US" sz="1100" dirty="0"/>
          </a:p>
        </p:txBody>
      </p:sp>
      <p:sp>
        <p:nvSpPr>
          <p:cNvPr id="17" name="Text 13"/>
          <p:cNvSpPr/>
          <p:nvPr/>
        </p:nvSpPr>
        <p:spPr>
          <a:xfrm>
            <a:off x="749808" y="4709160"/>
            <a:ext cx="3291840" cy="292608"/>
          </a:xfrm>
          <a:prstGeom prst="rect">
            <a:avLst/>
          </a:prstGeom>
          <a:noFill/>
          <a:ln/>
        </p:spPr>
        <p:txBody>
          <a:bodyPr wrap="square" rtlCol="0" anchor="ctr"/>
          <a:lstStyle/>
          <a:p>
            <a:pPr indent="0" marL="0">
              <a:buNone/>
            </a:pPr>
            <a:r>
              <a:rPr lang="en-US" sz="1300" b="1" dirty="0">
                <a:solidFill>
                  <a:srgbClr val="005A9E"/>
                </a:solidFill>
                <a:latin typeface="Segoe UI Semibold" pitchFamily="34" charset="0"/>
                <a:ea typeface="Segoe UI Semibold" pitchFamily="34" charset="-122"/>
                <a:cs typeface="Segoe UI Semibold" pitchFamily="34" charset="-120"/>
              </a:rPr>
              <a:t>Components</a:t>
            </a:r>
            <a:endParaRPr lang="en-US" sz="1300" dirty="0"/>
          </a:p>
        </p:txBody>
      </p:sp>
      <p:sp>
        <p:nvSpPr>
          <p:cNvPr id="18" name="Text 14"/>
          <p:cNvSpPr/>
          <p:nvPr/>
        </p:nvSpPr>
        <p:spPr>
          <a:xfrm>
            <a:off x="749808" y="5001768"/>
            <a:ext cx="3291840" cy="1097280"/>
          </a:xfrm>
          <a:prstGeom prst="rect">
            <a:avLst/>
          </a:prstGeom>
          <a:noFill/>
          <a:ln/>
        </p:spPr>
        <p:txBody>
          <a:bodyPr wrap="square" rtlCol="0" anchor="t"/>
          <a:lstStyle/>
          <a:p>
            <a:pPr indent="0" marL="0">
              <a:lnSpc>
                <a:spcPct val="105000"/>
              </a:lnSpc>
              <a:buNone/>
            </a:pPr>
            <a:r>
              <a:rPr lang="en-US" sz="1100" dirty="0">
                <a:solidFill>
                  <a:srgbClr val="201F1E"/>
                </a:solidFill>
                <a:latin typeface="Segoe UI" pitchFamily="34" charset="0"/>
                <a:ea typeface="Segoe UI" pitchFamily="34" charset="-122"/>
                <a:cs typeface="Segoe UI" pitchFamily="34" charset="-120"/>
              </a:rPr>
              <a:t>DTS engine · NIM client · DNA engine · security scanner · test generator · deploy gate · GitHub/Discord/DB actions · dashboard.</a:t>
            </a:r>
            <a:endParaRPr lang="en-US" sz="1100" dirty="0"/>
          </a:p>
        </p:txBody>
      </p:sp>
      <p:pic>
        <p:nvPicPr>
          <p:cNvPr id="19" name="Image 2" descr="../docs/architecture.png">    </p:cNvPr>
          <p:cNvPicPr>
            <a:picLocks noChangeAspect="1"/>
          </p:cNvPicPr>
          <p:nvPr/>
        </p:nvPicPr>
        <p:blipFill>
          <a:blip r:embed="rId3"/>
          <a:stretch>
            <a:fillRect/>
          </a:stretch>
        </p:blipFill>
        <p:spPr>
          <a:xfrm>
            <a:off x="4434840" y="1325880"/>
            <a:ext cx="7223760" cy="50109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8"/>
        </a:solidFill>
      </p:bgPr>
    </p:bg>
    <p:spTree>
      <p:nvGrpSpPr>
        <p:cNvPr id="1" name=""/>
        <p:cNvGrpSpPr/>
        <p:nvPr/>
      </p:nvGrpSpPr>
      <p:grpSpPr>
        <a:xfrm>
          <a:off x="0" y="0"/>
          <a:ext cx="0" cy="0"/>
          <a:chOff x="0" y="0"/>
          <a:chExt cx="0" cy="0"/>
        </a:xfrm>
      </p:grpSpPr>
      <p:pic>
        <p:nvPicPr>
          <p:cNvPr id="2" name="Image 0" descr="assets/logo_shield.png">    </p:cNvPr>
          <p:cNvPicPr>
            <a:picLocks noChangeAspect="1"/>
          </p:cNvPicPr>
          <p:nvPr/>
        </p:nvPicPr>
        <p:blipFill>
          <a:blip r:embed="rId1"/>
          <a:stretch>
            <a:fillRect/>
          </a:stretch>
        </p:blipFill>
        <p:spPr>
          <a:xfrm>
            <a:off x="457200" y="310896"/>
            <a:ext cx="566928" cy="566928"/>
          </a:xfrm>
          <a:prstGeom prst="rect">
            <a:avLst/>
          </a:prstGeom>
        </p:spPr>
      </p:pic>
      <p:sp>
        <p:nvSpPr>
          <p:cNvPr id="3" name="Text 0"/>
          <p:cNvSpPr/>
          <p:nvPr/>
        </p:nvSpPr>
        <p:spPr>
          <a:xfrm>
            <a:off x="1170432" y="310896"/>
            <a:ext cx="10515600" cy="566928"/>
          </a:xfrm>
          <a:prstGeom prst="rect">
            <a:avLst/>
          </a:prstGeom>
          <a:noFill/>
          <a:ln/>
        </p:spPr>
        <p:txBody>
          <a:bodyPr wrap="square" rtlCol="0" anchor="ctr"/>
          <a:lstStyle/>
          <a:p>
            <a:pPr indent="0" marL="0">
              <a:buNone/>
            </a:pPr>
            <a:r>
              <a:rPr lang="en-US" sz="2600" b="1" dirty="0">
                <a:solidFill>
                  <a:srgbClr val="201F1E"/>
                </a:solidFill>
                <a:latin typeface="Segoe UI Semibold" pitchFamily="34" charset="0"/>
                <a:ea typeface="Segoe UI Semibold" pitchFamily="34" charset="-122"/>
                <a:cs typeface="Segoe UI Semibold" pitchFamily="34" charset="-120"/>
              </a:rPr>
              <a:t>Methodology  —  Pull Request Review Flow</a:t>
            </a:r>
            <a:endParaRPr lang="en-US" sz="2600" dirty="0"/>
          </a:p>
        </p:txBody>
      </p:sp>
      <p:sp>
        <p:nvSpPr>
          <p:cNvPr id="4" name="Shape 1"/>
          <p:cNvSpPr/>
          <p:nvPr/>
        </p:nvSpPr>
        <p:spPr>
          <a:xfrm>
            <a:off x="1188720" y="969264"/>
            <a:ext cx="109728" cy="64008"/>
          </a:xfrm>
          <a:prstGeom prst="rect">
            <a:avLst/>
          </a:prstGeom>
          <a:solidFill>
            <a:srgbClr val="F25022"/>
          </a:solidFill>
          <a:ln/>
        </p:spPr>
      </p:sp>
      <p:sp>
        <p:nvSpPr>
          <p:cNvPr id="5" name="Shape 2"/>
          <p:cNvSpPr/>
          <p:nvPr/>
        </p:nvSpPr>
        <p:spPr>
          <a:xfrm>
            <a:off x="1335024" y="969264"/>
            <a:ext cx="109728" cy="64008"/>
          </a:xfrm>
          <a:prstGeom prst="rect">
            <a:avLst/>
          </a:prstGeom>
          <a:solidFill>
            <a:srgbClr val="7FBA00"/>
          </a:solidFill>
          <a:ln/>
        </p:spPr>
      </p:sp>
      <p:sp>
        <p:nvSpPr>
          <p:cNvPr id="6" name="Shape 3"/>
          <p:cNvSpPr/>
          <p:nvPr/>
        </p:nvSpPr>
        <p:spPr>
          <a:xfrm>
            <a:off x="1481328" y="969264"/>
            <a:ext cx="109728" cy="64008"/>
          </a:xfrm>
          <a:prstGeom prst="rect">
            <a:avLst/>
          </a:prstGeom>
          <a:solidFill>
            <a:srgbClr val="00A4EF"/>
          </a:solidFill>
          <a:ln/>
        </p:spPr>
      </p:sp>
      <p:sp>
        <p:nvSpPr>
          <p:cNvPr id="7" name="Shape 4"/>
          <p:cNvSpPr/>
          <p:nvPr/>
        </p:nvSpPr>
        <p:spPr>
          <a:xfrm>
            <a:off x="1627632" y="969264"/>
            <a:ext cx="109728" cy="64008"/>
          </a:xfrm>
          <a:prstGeom prst="rect">
            <a:avLst/>
          </a:prstGeom>
          <a:solidFill>
            <a:srgbClr val="FFB900"/>
          </a:solidFill>
          <a:ln/>
        </p:spPr>
      </p:sp>
      <p:sp>
        <p:nvSpPr>
          <p:cNvPr id="8" name="Text 5"/>
          <p:cNvSpPr/>
          <p:nvPr/>
        </p:nvSpPr>
        <p:spPr>
          <a:xfrm>
            <a:off x="457200" y="6355080"/>
            <a:ext cx="9875520" cy="292608"/>
          </a:xfrm>
          <a:prstGeom prst="rect">
            <a:avLst/>
          </a:prstGeom>
          <a:noFill/>
          <a:ln/>
        </p:spPr>
        <p:txBody>
          <a:bodyPr wrap="square" rtlCol="0" anchor="ctr"/>
          <a:lstStyle/>
          <a:p>
            <a:pPr algn="l" indent="0" marL="0">
              <a:buNone/>
            </a:pPr>
            <a:r>
              <a:rPr lang="en-US" sz="900" dirty="0">
                <a:solidFill>
                  <a:srgbClr val="8A8886"/>
                </a:solidFill>
                <a:latin typeface="Segoe UI" pitchFamily="34" charset="0"/>
                <a:ea typeface="Segoe UI" pitchFamily="34" charset="-122"/>
                <a:cs typeface="Segoe UI" pitchFamily="34" charset="-120"/>
              </a:rPr>
              <a:t>The Hallucinato  ·  Microsoft Hackathon — Theme 06: AI-Powered Production Function: Reinventing Work</a:t>
            </a:r>
            <a:endParaRPr lang="en-US" sz="900" dirty="0"/>
          </a:p>
        </p:txBody>
      </p:sp>
      <p:sp>
        <p:nvSpPr>
          <p:cNvPr id="9" name="Text 6"/>
          <p:cNvSpPr/>
          <p:nvPr/>
        </p:nvSpPr>
        <p:spPr>
          <a:xfrm>
            <a:off x="11064240" y="6355080"/>
            <a:ext cx="457200" cy="292608"/>
          </a:xfrm>
          <a:prstGeom prst="rect">
            <a:avLst/>
          </a:prstGeom>
          <a:noFill/>
          <a:ln/>
        </p:spPr>
        <p:txBody>
          <a:bodyPr wrap="square"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7</a:t>
            </a:r>
            <a:endParaRPr lang="en-US" sz="900" dirty="0"/>
          </a:p>
        </p:txBody>
      </p:sp>
      <p:pic>
        <p:nvPicPr>
          <p:cNvPr id="10" name="Image 1" descr="assets/logo_squares.png">    </p:cNvPr>
          <p:cNvPicPr>
            <a:picLocks noChangeAspect="1"/>
          </p:cNvPicPr>
          <p:nvPr/>
        </p:nvPicPr>
        <p:blipFill>
          <a:blip r:embed="rId2"/>
          <a:stretch>
            <a:fillRect/>
          </a:stretch>
        </p:blipFill>
        <p:spPr>
          <a:xfrm>
            <a:off x="11649456" y="6355080"/>
            <a:ext cx="292608" cy="292608"/>
          </a:xfrm>
          <a:prstGeom prst="rect">
            <a:avLst/>
          </a:prstGeom>
        </p:spPr>
      </p:pic>
      <p:sp>
        <p:nvSpPr>
          <p:cNvPr id="11" name="Text 7"/>
          <p:cNvSpPr/>
          <p:nvPr/>
        </p:nvSpPr>
        <p:spPr>
          <a:xfrm>
            <a:off x="548640" y="1097280"/>
            <a:ext cx="10972800" cy="320040"/>
          </a:xfrm>
          <a:prstGeom prst="rect">
            <a:avLst/>
          </a:prstGeom>
          <a:noFill/>
          <a:ln/>
        </p:spPr>
        <p:txBody>
          <a:bodyPr wrap="square" rtlCol="0" anchor="ctr"/>
          <a:lstStyle/>
          <a:p>
            <a:pPr indent="0" marL="0">
              <a:buNone/>
            </a:pPr>
            <a:r>
              <a:rPr lang="en-US" sz="1250" i="1" dirty="0">
                <a:solidFill>
                  <a:srgbClr val="605E5C"/>
                </a:solidFill>
                <a:latin typeface="Segoe UI" pitchFamily="34" charset="0"/>
                <a:ea typeface="Segoe UI" pitchFamily="34" charset="-122"/>
                <a:cs typeface="Segoe UI" pitchFamily="34" charset="-120"/>
              </a:rPr>
              <a:t>How a PR moves from webhook to merge decision — routed by Developer Trust Score.</a:t>
            </a:r>
            <a:endParaRPr lang="en-US" sz="1250" dirty="0"/>
          </a:p>
        </p:txBody>
      </p:sp>
      <p:pic>
        <p:nvPicPr>
          <p:cNvPr id="12" name="Image 2" descr="../docs/user_flow.png">    </p:cNvPr>
          <p:cNvPicPr>
            <a:picLocks noChangeAspect="1"/>
          </p:cNvPicPr>
          <p:nvPr/>
        </p:nvPicPr>
        <p:blipFill>
          <a:blip r:embed="rId3"/>
          <a:stretch>
            <a:fillRect/>
          </a:stretch>
        </p:blipFill>
        <p:spPr>
          <a:xfrm>
            <a:off x="2834640" y="1417320"/>
            <a:ext cx="6519672" cy="48463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8"/>
        </a:solidFill>
      </p:bgPr>
    </p:bg>
    <p:spTree>
      <p:nvGrpSpPr>
        <p:cNvPr id="1" name=""/>
        <p:cNvGrpSpPr/>
        <p:nvPr/>
      </p:nvGrpSpPr>
      <p:grpSpPr>
        <a:xfrm>
          <a:off x="0" y="0"/>
          <a:ext cx="0" cy="0"/>
          <a:chOff x="0" y="0"/>
          <a:chExt cx="0" cy="0"/>
        </a:xfrm>
      </p:grpSpPr>
      <p:pic>
        <p:nvPicPr>
          <p:cNvPr id="2" name="Image 0" descr="assets/logo_shield.png">    </p:cNvPr>
          <p:cNvPicPr>
            <a:picLocks noChangeAspect="1"/>
          </p:cNvPicPr>
          <p:nvPr/>
        </p:nvPicPr>
        <p:blipFill>
          <a:blip r:embed="rId1"/>
          <a:stretch>
            <a:fillRect/>
          </a:stretch>
        </p:blipFill>
        <p:spPr>
          <a:xfrm>
            <a:off x="457200" y="310896"/>
            <a:ext cx="566928" cy="566928"/>
          </a:xfrm>
          <a:prstGeom prst="rect">
            <a:avLst/>
          </a:prstGeom>
        </p:spPr>
      </p:pic>
      <p:sp>
        <p:nvSpPr>
          <p:cNvPr id="3" name="Text 0"/>
          <p:cNvSpPr/>
          <p:nvPr/>
        </p:nvSpPr>
        <p:spPr>
          <a:xfrm>
            <a:off x="1170432" y="310896"/>
            <a:ext cx="10515600" cy="566928"/>
          </a:xfrm>
          <a:prstGeom prst="rect">
            <a:avLst/>
          </a:prstGeom>
          <a:noFill/>
          <a:ln/>
        </p:spPr>
        <p:txBody>
          <a:bodyPr wrap="square" rtlCol="0" anchor="ctr"/>
          <a:lstStyle/>
          <a:p>
            <a:pPr indent="0" marL="0">
              <a:buNone/>
            </a:pPr>
            <a:r>
              <a:rPr lang="en-US" sz="2600" b="1" dirty="0">
                <a:solidFill>
                  <a:srgbClr val="201F1E"/>
                </a:solidFill>
                <a:latin typeface="Segoe UI Semibold" pitchFamily="34" charset="0"/>
                <a:ea typeface="Segoe UI Semibold" pitchFamily="34" charset="-122"/>
                <a:cs typeface="Segoe UI Semibold" pitchFamily="34" charset="-120"/>
              </a:rPr>
              <a:t>Methodology  —  Data Model (ER)</a:t>
            </a:r>
            <a:endParaRPr lang="en-US" sz="2600" dirty="0"/>
          </a:p>
        </p:txBody>
      </p:sp>
      <p:sp>
        <p:nvSpPr>
          <p:cNvPr id="4" name="Shape 1"/>
          <p:cNvSpPr/>
          <p:nvPr/>
        </p:nvSpPr>
        <p:spPr>
          <a:xfrm>
            <a:off x="1188720" y="969264"/>
            <a:ext cx="109728" cy="64008"/>
          </a:xfrm>
          <a:prstGeom prst="rect">
            <a:avLst/>
          </a:prstGeom>
          <a:solidFill>
            <a:srgbClr val="F25022"/>
          </a:solidFill>
          <a:ln/>
        </p:spPr>
      </p:sp>
      <p:sp>
        <p:nvSpPr>
          <p:cNvPr id="5" name="Shape 2"/>
          <p:cNvSpPr/>
          <p:nvPr/>
        </p:nvSpPr>
        <p:spPr>
          <a:xfrm>
            <a:off x="1335024" y="969264"/>
            <a:ext cx="109728" cy="64008"/>
          </a:xfrm>
          <a:prstGeom prst="rect">
            <a:avLst/>
          </a:prstGeom>
          <a:solidFill>
            <a:srgbClr val="7FBA00"/>
          </a:solidFill>
          <a:ln/>
        </p:spPr>
      </p:sp>
      <p:sp>
        <p:nvSpPr>
          <p:cNvPr id="6" name="Shape 3"/>
          <p:cNvSpPr/>
          <p:nvPr/>
        </p:nvSpPr>
        <p:spPr>
          <a:xfrm>
            <a:off x="1481328" y="969264"/>
            <a:ext cx="109728" cy="64008"/>
          </a:xfrm>
          <a:prstGeom prst="rect">
            <a:avLst/>
          </a:prstGeom>
          <a:solidFill>
            <a:srgbClr val="00A4EF"/>
          </a:solidFill>
          <a:ln/>
        </p:spPr>
      </p:sp>
      <p:sp>
        <p:nvSpPr>
          <p:cNvPr id="7" name="Shape 4"/>
          <p:cNvSpPr/>
          <p:nvPr/>
        </p:nvSpPr>
        <p:spPr>
          <a:xfrm>
            <a:off x="1627632" y="969264"/>
            <a:ext cx="109728" cy="64008"/>
          </a:xfrm>
          <a:prstGeom prst="rect">
            <a:avLst/>
          </a:prstGeom>
          <a:solidFill>
            <a:srgbClr val="FFB900"/>
          </a:solidFill>
          <a:ln/>
        </p:spPr>
      </p:sp>
      <p:sp>
        <p:nvSpPr>
          <p:cNvPr id="8" name="Text 5"/>
          <p:cNvSpPr/>
          <p:nvPr/>
        </p:nvSpPr>
        <p:spPr>
          <a:xfrm>
            <a:off x="457200" y="6355080"/>
            <a:ext cx="9875520" cy="292608"/>
          </a:xfrm>
          <a:prstGeom prst="rect">
            <a:avLst/>
          </a:prstGeom>
          <a:noFill/>
          <a:ln/>
        </p:spPr>
        <p:txBody>
          <a:bodyPr wrap="square" rtlCol="0" anchor="ctr"/>
          <a:lstStyle/>
          <a:p>
            <a:pPr algn="l" indent="0" marL="0">
              <a:buNone/>
            </a:pPr>
            <a:r>
              <a:rPr lang="en-US" sz="900" dirty="0">
                <a:solidFill>
                  <a:srgbClr val="8A8886"/>
                </a:solidFill>
                <a:latin typeface="Segoe UI" pitchFamily="34" charset="0"/>
                <a:ea typeface="Segoe UI" pitchFamily="34" charset="-122"/>
                <a:cs typeface="Segoe UI" pitchFamily="34" charset="-120"/>
              </a:rPr>
              <a:t>The Hallucinato  ·  Microsoft Hackathon — Theme 06: AI-Powered Production Function: Reinventing Work</a:t>
            </a:r>
            <a:endParaRPr lang="en-US" sz="900" dirty="0"/>
          </a:p>
        </p:txBody>
      </p:sp>
      <p:sp>
        <p:nvSpPr>
          <p:cNvPr id="9" name="Text 6"/>
          <p:cNvSpPr/>
          <p:nvPr/>
        </p:nvSpPr>
        <p:spPr>
          <a:xfrm>
            <a:off x="11064240" y="6355080"/>
            <a:ext cx="457200" cy="292608"/>
          </a:xfrm>
          <a:prstGeom prst="rect">
            <a:avLst/>
          </a:prstGeom>
          <a:noFill/>
          <a:ln/>
        </p:spPr>
        <p:txBody>
          <a:bodyPr wrap="square"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8</a:t>
            </a:r>
            <a:endParaRPr lang="en-US" sz="900" dirty="0"/>
          </a:p>
        </p:txBody>
      </p:sp>
      <p:pic>
        <p:nvPicPr>
          <p:cNvPr id="10" name="Image 1" descr="assets/logo_squares.png">    </p:cNvPr>
          <p:cNvPicPr>
            <a:picLocks noChangeAspect="1"/>
          </p:cNvPicPr>
          <p:nvPr/>
        </p:nvPicPr>
        <p:blipFill>
          <a:blip r:embed="rId2"/>
          <a:stretch>
            <a:fillRect/>
          </a:stretch>
        </p:blipFill>
        <p:spPr>
          <a:xfrm>
            <a:off x="11649456" y="6355080"/>
            <a:ext cx="292608" cy="292608"/>
          </a:xfrm>
          <a:prstGeom prst="rect">
            <a:avLst/>
          </a:prstGeom>
        </p:spPr>
      </p:pic>
      <p:sp>
        <p:nvSpPr>
          <p:cNvPr id="11" name="Text 7"/>
          <p:cNvSpPr/>
          <p:nvPr/>
        </p:nvSpPr>
        <p:spPr>
          <a:xfrm>
            <a:off x="548640" y="1097280"/>
            <a:ext cx="10972800" cy="320040"/>
          </a:xfrm>
          <a:prstGeom prst="rect">
            <a:avLst/>
          </a:prstGeom>
          <a:noFill/>
          <a:ln/>
        </p:spPr>
        <p:txBody>
          <a:bodyPr wrap="square" rtlCol="0" anchor="ctr"/>
          <a:lstStyle/>
          <a:p>
            <a:pPr indent="0" marL="0">
              <a:buNone/>
            </a:pPr>
            <a:r>
              <a:rPr lang="en-US" sz="1200" i="1" dirty="0">
                <a:solidFill>
                  <a:srgbClr val="605E5C"/>
                </a:solidFill>
                <a:latin typeface="Segoe UI" pitchFamily="34" charset="0"/>
                <a:ea typeface="Segoe UI" pitchFamily="34" charset="-122"/>
                <a:cs typeface="Segoe UI" pitchFamily="34" charset="-120"/>
              </a:rPr>
              <a:t>SQLite (WAL) — nine tables. FKs link metrics, trust, PRs, reviews, findings &amp; risk; CHECK constraints guard depth, status &amp; resolved.</a:t>
            </a:r>
            <a:endParaRPr lang="en-US" sz="1200" dirty="0"/>
          </a:p>
        </p:txBody>
      </p:sp>
      <p:pic>
        <p:nvPicPr>
          <p:cNvPr id="12" name="Image 2" descr="../docs/er_diagram.png">    </p:cNvPr>
          <p:cNvPicPr>
            <a:picLocks noChangeAspect="1"/>
          </p:cNvPicPr>
          <p:nvPr/>
        </p:nvPicPr>
        <p:blipFill>
          <a:blip r:embed="rId3"/>
          <a:stretch>
            <a:fillRect/>
          </a:stretch>
        </p:blipFill>
        <p:spPr>
          <a:xfrm>
            <a:off x="3063240" y="1417320"/>
            <a:ext cx="6053328" cy="48463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8"/>
        </a:solidFill>
      </p:bgPr>
    </p:bg>
    <p:spTree>
      <p:nvGrpSpPr>
        <p:cNvPr id="1" name=""/>
        <p:cNvGrpSpPr/>
        <p:nvPr/>
      </p:nvGrpSpPr>
      <p:grpSpPr>
        <a:xfrm>
          <a:off x="0" y="0"/>
          <a:ext cx="0" cy="0"/>
          <a:chOff x="0" y="0"/>
          <a:chExt cx="0" cy="0"/>
        </a:xfrm>
      </p:grpSpPr>
      <p:pic>
        <p:nvPicPr>
          <p:cNvPr id="2" name="Image 0" descr="assets/logo_shield.png">    </p:cNvPr>
          <p:cNvPicPr>
            <a:picLocks noChangeAspect="1"/>
          </p:cNvPicPr>
          <p:nvPr/>
        </p:nvPicPr>
        <p:blipFill>
          <a:blip r:embed="rId1"/>
          <a:stretch>
            <a:fillRect/>
          </a:stretch>
        </p:blipFill>
        <p:spPr>
          <a:xfrm>
            <a:off x="457200" y="310896"/>
            <a:ext cx="566928" cy="566928"/>
          </a:xfrm>
          <a:prstGeom prst="rect">
            <a:avLst/>
          </a:prstGeom>
        </p:spPr>
      </p:pic>
      <p:sp>
        <p:nvSpPr>
          <p:cNvPr id="3" name="Text 0"/>
          <p:cNvSpPr/>
          <p:nvPr/>
        </p:nvSpPr>
        <p:spPr>
          <a:xfrm>
            <a:off x="1170432" y="310896"/>
            <a:ext cx="10515600" cy="566928"/>
          </a:xfrm>
          <a:prstGeom prst="rect">
            <a:avLst/>
          </a:prstGeom>
          <a:noFill/>
          <a:ln/>
        </p:spPr>
        <p:txBody>
          <a:bodyPr wrap="square" rtlCol="0" anchor="ctr"/>
          <a:lstStyle/>
          <a:p>
            <a:pPr indent="0" marL="0">
              <a:buNone/>
            </a:pPr>
            <a:r>
              <a:rPr lang="en-US" sz="2600" b="1" dirty="0">
                <a:solidFill>
                  <a:srgbClr val="201F1E"/>
                </a:solidFill>
                <a:latin typeface="Segoe UI Semibold" pitchFamily="34" charset="0"/>
                <a:ea typeface="Segoe UI Semibold" pitchFamily="34" charset="-122"/>
                <a:cs typeface="Segoe UI Semibold" pitchFamily="34" charset="-120"/>
              </a:rPr>
              <a:t>Working Prototype</a:t>
            </a:r>
            <a:endParaRPr lang="en-US" sz="2600" dirty="0"/>
          </a:p>
        </p:txBody>
      </p:sp>
      <p:sp>
        <p:nvSpPr>
          <p:cNvPr id="4" name="Shape 1"/>
          <p:cNvSpPr/>
          <p:nvPr/>
        </p:nvSpPr>
        <p:spPr>
          <a:xfrm>
            <a:off x="1188720" y="969264"/>
            <a:ext cx="109728" cy="64008"/>
          </a:xfrm>
          <a:prstGeom prst="rect">
            <a:avLst/>
          </a:prstGeom>
          <a:solidFill>
            <a:srgbClr val="F25022"/>
          </a:solidFill>
          <a:ln/>
        </p:spPr>
      </p:sp>
      <p:sp>
        <p:nvSpPr>
          <p:cNvPr id="5" name="Shape 2"/>
          <p:cNvSpPr/>
          <p:nvPr/>
        </p:nvSpPr>
        <p:spPr>
          <a:xfrm>
            <a:off x="1335024" y="969264"/>
            <a:ext cx="109728" cy="64008"/>
          </a:xfrm>
          <a:prstGeom prst="rect">
            <a:avLst/>
          </a:prstGeom>
          <a:solidFill>
            <a:srgbClr val="7FBA00"/>
          </a:solidFill>
          <a:ln/>
        </p:spPr>
      </p:sp>
      <p:sp>
        <p:nvSpPr>
          <p:cNvPr id="6" name="Shape 3"/>
          <p:cNvSpPr/>
          <p:nvPr/>
        </p:nvSpPr>
        <p:spPr>
          <a:xfrm>
            <a:off x="1481328" y="969264"/>
            <a:ext cx="109728" cy="64008"/>
          </a:xfrm>
          <a:prstGeom prst="rect">
            <a:avLst/>
          </a:prstGeom>
          <a:solidFill>
            <a:srgbClr val="00A4EF"/>
          </a:solidFill>
          <a:ln/>
        </p:spPr>
      </p:sp>
      <p:sp>
        <p:nvSpPr>
          <p:cNvPr id="7" name="Shape 4"/>
          <p:cNvSpPr/>
          <p:nvPr/>
        </p:nvSpPr>
        <p:spPr>
          <a:xfrm>
            <a:off x="1627632" y="969264"/>
            <a:ext cx="109728" cy="64008"/>
          </a:xfrm>
          <a:prstGeom prst="rect">
            <a:avLst/>
          </a:prstGeom>
          <a:solidFill>
            <a:srgbClr val="FFB900"/>
          </a:solidFill>
          <a:ln/>
        </p:spPr>
      </p:sp>
      <p:sp>
        <p:nvSpPr>
          <p:cNvPr id="8" name="Text 5"/>
          <p:cNvSpPr/>
          <p:nvPr/>
        </p:nvSpPr>
        <p:spPr>
          <a:xfrm>
            <a:off x="457200" y="6355080"/>
            <a:ext cx="9875520" cy="292608"/>
          </a:xfrm>
          <a:prstGeom prst="rect">
            <a:avLst/>
          </a:prstGeom>
          <a:noFill/>
          <a:ln/>
        </p:spPr>
        <p:txBody>
          <a:bodyPr wrap="square" rtlCol="0" anchor="ctr"/>
          <a:lstStyle/>
          <a:p>
            <a:pPr algn="l" indent="0" marL="0">
              <a:buNone/>
            </a:pPr>
            <a:r>
              <a:rPr lang="en-US" sz="900" dirty="0">
                <a:solidFill>
                  <a:srgbClr val="8A8886"/>
                </a:solidFill>
                <a:latin typeface="Segoe UI" pitchFamily="34" charset="0"/>
                <a:ea typeface="Segoe UI" pitchFamily="34" charset="-122"/>
                <a:cs typeface="Segoe UI" pitchFamily="34" charset="-120"/>
              </a:rPr>
              <a:t>The Hallucinato  ·  Microsoft Hackathon — Theme 06: AI-Powered Production Function: Reinventing Work</a:t>
            </a:r>
            <a:endParaRPr lang="en-US" sz="900" dirty="0"/>
          </a:p>
        </p:txBody>
      </p:sp>
      <p:sp>
        <p:nvSpPr>
          <p:cNvPr id="9" name="Text 6"/>
          <p:cNvSpPr/>
          <p:nvPr/>
        </p:nvSpPr>
        <p:spPr>
          <a:xfrm>
            <a:off x="11064240" y="6355080"/>
            <a:ext cx="457200" cy="292608"/>
          </a:xfrm>
          <a:prstGeom prst="rect">
            <a:avLst/>
          </a:prstGeom>
          <a:noFill/>
          <a:ln/>
        </p:spPr>
        <p:txBody>
          <a:bodyPr wrap="square"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9</a:t>
            </a:r>
            <a:endParaRPr lang="en-US" sz="900" dirty="0"/>
          </a:p>
        </p:txBody>
      </p:sp>
      <p:pic>
        <p:nvPicPr>
          <p:cNvPr id="10" name="Image 1" descr="assets/logo_squares.png">    </p:cNvPr>
          <p:cNvPicPr>
            <a:picLocks noChangeAspect="1"/>
          </p:cNvPicPr>
          <p:nvPr/>
        </p:nvPicPr>
        <p:blipFill>
          <a:blip r:embed="rId2"/>
          <a:stretch>
            <a:fillRect/>
          </a:stretch>
        </p:blipFill>
        <p:spPr>
          <a:xfrm>
            <a:off x="11649456" y="6355080"/>
            <a:ext cx="292608" cy="292608"/>
          </a:xfrm>
          <a:prstGeom prst="rect">
            <a:avLst/>
          </a:prstGeom>
        </p:spPr>
      </p:pic>
      <p:sp>
        <p:nvSpPr>
          <p:cNvPr id="11" name="Shape 7"/>
          <p:cNvSpPr/>
          <p:nvPr/>
        </p:nvSpPr>
        <p:spPr>
          <a:xfrm>
            <a:off x="548640" y="1280160"/>
            <a:ext cx="5486400" cy="4846320"/>
          </a:xfrm>
          <a:prstGeom prst="roundRect">
            <a:avLst>
              <a:gd name="adj" fmla="val 1321"/>
            </a:avLst>
          </a:prstGeom>
          <a:solidFill>
            <a:srgbClr val="FFFFFF"/>
          </a:solidFill>
          <a:ln w="12700">
            <a:solidFill>
              <a:srgbClr val="E1DFDD"/>
            </a:solidFill>
            <a:prstDash val="solid"/>
          </a:ln>
        </p:spPr>
      </p:sp>
      <p:sp>
        <p:nvSpPr>
          <p:cNvPr id="12" name="Shape 8"/>
          <p:cNvSpPr/>
          <p:nvPr/>
        </p:nvSpPr>
        <p:spPr>
          <a:xfrm>
            <a:off x="548640" y="1280160"/>
            <a:ext cx="82296" cy="4846320"/>
          </a:xfrm>
          <a:prstGeom prst="roundRect">
            <a:avLst>
              <a:gd name="adj" fmla="val 44444"/>
            </a:avLst>
          </a:prstGeom>
          <a:solidFill>
            <a:srgbClr val="7FBA00"/>
          </a:solidFill>
          <a:ln/>
        </p:spPr>
      </p:sp>
      <p:sp>
        <p:nvSpPr>
          <p:cNvPr id="13" name="Text 9"/>
          <p:cNvSpPr/>
          <p:nvPr/>
        </p:nvSpPr>
        <p:spPr>
          <a:xfrm>
            <a:off x="777240" y="1371600"/>
            <a:ext cx="5029200" cy="320040"/>
          </a:xfrm>
          <a:prstGeom prst="rect">
            <a:avLst/>
          </a:prstGeom>
          <a:noFill/>
          <a:ln/>
        </p:spPr>
        <p:txBody>
          <a:bodyPr wrap="square" rtlCol="0" anchor="ctr"/>
          <a:lstStyle/>
          <a:p>
            <a:pPr indent="0" marL="0">
              <a:buNone/>
            </a:pPr>
            <a:r>
              <a:rPr lang="en-US" sz="1400" b="1" dirty="0">
                <a:solidFill>
                  <a:srgbClr val="201F1E"/>
                </a:solidFill>
                <a:latin typeface="Segoe UI Semibold" pitchFamily="34" charset="0"/>
                <a:ea typeface="Segoe UI Semibold" pitchFamily="34" charset="-122"/>
                <a:cs typeface="Segoe UI Semibold" pitchFamily="34" charset="-120"/>
              </a:rPr>
              <a:t>Live, end-to-end — running with real keys</a:t>
            </a:r>
            <a:endParaRPr lang="en-US" sz="1400" dirty="0"/>
          </a:p>
        </p:txBody>
      </p:sp>
      <p:sp>
        <p:nvSpPr>
          <p:cNvPr id="14" name="Text 10"/>
          <p:cNvSpPr/>
          <p:nvPr/>
        </p:nvSpPr>
        <p:spPr>
          <a:xfrm>
            <a:off x="777240" y="1783080"/>
            <a:ext cx="5029200" cy="4206240"/>
          </a:xfrm>
          <a:prstGeom prst="rect">
            <a:avLst/>
          </a:prstGeom>
          <a:noFill/>
          <a:ln/>
        </p:spPr>
        <p:txBody>
          <a:bodyPr wrap="square" rtlCol="0" anchor="t"/>
          <a:lstStyle/>
          <a:p>
            <a:pPr marL="152400" indent="-152400">
              <a:lnSpc>
                <a:spcPct val="105000"/>
              </a:lnSpc>
              <a:buSzPct val="100000"/>
              <a:buChar char="•"/>
            </a:pPr>
            <a:r>
              <a:rPr lang="en-US" sz="1130" dirty="0">
                <a:solidFill>
                  <a:srgbClr val="201F1E"/>
                </a:solidFill>
                <a:latin typeface="Segoe UI" pitchFamily="34" charset="0"/>
                <a:ea typeface="Segoe UI" pitchFamily="34" charset="-122"/>
                <a:cs typeface="Segoe UI" pitchFamily="34" charset="-120"/>
              </a:rPr>
              <a:t>Single FastAPI service + dashboard, connected to GitHub via an HMAC-verified webhook (ngrok tunnel), live NVIDIA NIM and a Discord channel.
</a:t>
            </a:r>
            <a:pPr indent="0" marL="0">
              <a:lnSpc>
                <a:spcPct val="105000"/>
              </a:lnSpc>
              <a:buNone/>
            </a:pPr>
            <a:r>
              <a:rPr lang="en-US" sz="1130" b="1" dirty="0">
                <a:solidFill>
                  <a:srgbClr val="201F1E"/>
                </a:solidFill>
                <a:latin typeface="Segoe UI" pitchFamily="34" charset="0"/>
                <a:ea typeface="Segoe UI" pitchFamily="34" charset="-122"/>
                <a:cs typeface="Segoe UI" pitchFamily="34" charset="-120"/>
              </a:rPr>
              <a:t>Demo flow:
</a:t>
            </a:r>
            <a:pPr indent="0" marL="0">
              <a:lnSpc>
                <a:spcPct val="105000"/>
              </a:lnSpc>
              <a:buNone/>
            </a:pPr>
            <a:r>
              <a:rPr lang="en-US" sz="1130" dirty="0">
                <a:solidFill>
                  <a:srgbClr val="201F1E"/>
                </a:solidFill>
                <a:latin typeface="Segoe UI" pitchFamily="34" charset="0"/>
                <a:ea typeface="Segoe UI" pitchFamily="34" charset="-122"/>
                <a:cs typeface="Segoe UI" pitchFamily="34" charset="-120"/>
              </a:rPr>
              <a:t>Low-trust dev opens a buggy PR → deep review posts 3 inline comments on app/auth.py + a red “devguardian/trust-gate” status (merge blocked) + Discord alert, in ~40s.
</a:t>
            </a:r>
            <a:pPr indent="0" marL="0">
              <a:lnSpc>
                <a:spcPct val="105000"/>
              </a:lnSpc>
              <a:buNone/>
            </a:pPr>
            <a:r>
              <a:rPr lang="en-US" sz="1130" dirty="0">
                <a:solidFill>
                  <a:srgbClr val="201F1E"/>
                </a:solidFill>
                <a:latin typeface="Segoe UI" pitchFamily="34" charset="0"/>
                <a:ea typeface="Segoe UI" pitchFamily="34" charset="-122"/>
                <a:cs typeface="Segoe UI" pitchFamily="34" charset="-120"/>
              </a:rPr>
              <a:t>Trusted dev opens a clean PR → shallow review → approve + green status.
</a:t>
            </a:r>
            <a:pPr indent="0" marL="0">
              <a:lnSpc>
                <a:spcPct val="105000"/>
              </a:lnSpc>
              <a:buNone/>
            </a:pPr>
            <a:r>
              <a:rPr lang="en-US" sz="1130" dirty="0">
                <a:solidFill>
                  <a:srgbClr val="201F1E"/>
                </a:solidFill>
                <a:latin typeface="Segoe UI" pitchFamily="34" charset="0"/>
                <a:ea typeface="Segoe UI" pitchFamily="34" charset="-122"/>
                <a:cs typeface="Segoe UI" pitchFamily="34" charset="-120"/>
              </a:rPr>
              <a:t>Offline “Simulate” runs the full pipeline for all four trust bands without GitHub.</a:t>
            </a:r>
            <a:endParaRPr lang="en-US" sz="1130" dirty="0"/>
          </a:p>
        </p:txBody>
      </p:sp>
      <p:sp>
        <p:nvSpPr>
          <p:cNvPr id="15" name="Shape 11"/>
          <p:cNvSpPr/>
          <p:nvPr/>
        </p:nvSpPr>
        <p:spPr>
          <a:xfrm>
            <a:off x="6172200" y="1280160"/>
            <a:ext cx="5468112" cy="2240280"/>
          </a:xfrm>
          <a:prstGeom prst="roundRect">
            <a:avLst>
              <a:gd name="adj" fmla="val 2857"/>
            </a:avLst>
          </a:prstGeom>
          <a:solidFill>
            <a:srgbClr val="FFFFFF"/>
          </a:solidFill>
          <a:ln w="12700">
            <a:solidFill>
              <a:srgbClr val="E1DFDD"/>
            </a:solidFill>
            <a:prstDash val="solid"/>
          </a:ln>
        </p:spPr>
      </p:sp>
      <p:sp>
        <p:nvSpPr>
          <p:cNvPr id="16" name="Shape 12"/>
          <p:cNvSpPr/>
          <p:nvPr/>
        </p:nvSpPr>
        <p:spPr>
          <a:xfrm>
            <a:off x="6172200" y="1280160"/>
            <a:ext cx="82296" cy="2240280"/>
          </a:xfrm>
          <a:prstGeom prst="roundRect">
            <a:avLst>
              <a:gd name="adj" fmla="val 44444"/>
            </a:avLst>
          </a:prstGeom>
          <a:solidFill>
            <a:srgbClr val="0078D4"/>
          </a:solidFill>
          <a:ln/>
        </p:spPr>
      </p:sp>
      <p:sp>
        <p:nvSpPr>
          <p:cNvPr id="17" name="Text 13"/>
          <p:cNvSpPr/>
          <p:nvPr/>
        </p:nvSpPr>
        <p:spPr>
          <a:xfrm>
            <a:off x="6400800" y="1371600"/>
            <a:ext cx="5029200" cy="320040"/>
          </a:xfrm>
          <a:prstGeom prst="rect">
            <a:avLst/>
          </a:prstGeom>
          <a:noFill/>
          <a:ln/>
        </p:spPr>
        <p:txBody>
          <a:bodyPr wrap="square" rtlCol="0" anchor="ctr"/>
          <a:lstStyle/>
          <a:p>
            <a:pPr indent="0" marL="0">
              <a:buNone/>
            </a:pPr>
            <a:r>
              <a:rPr lang="en-US" sz="1400" b="1" dirty="0">
                <a:solidFill>
                  <a:srgbClr val="201F1E"/>
                </a:solidFill>
                <a:latin typeface="Segoe UI Semibold" pitchFamily="34" charset="0"/>
                <a:ea typeface="Segoe UI Semibold" pitchFamily="34" charset="-122"/>
                <a:cs typeface="Segoe UI Semibold" pitchFamily="34" charset="-120"/>
              </a:rPr>
              <a:t>Try it</a:t>
            </a:r>
            <a:endParaRPr lang="en-US" sz="1400" dirty="0"/>
          </a:p>
        </p:txBody>
      </p:sp>
      <p:sp>
        <p:nvSpPr>
          <p:cNvPr id="18" name="Text 14"/>
          <p:cNvSpPr/>
          <p:nvPr/>
        </p:nvSpPr>
        <p:spPr>
          <a:xfrm>
            <a:off x="6400800" y="1783080"/>
            <a:ext cx="5120640" cy="1691640"/>
          </a:xfrm>
          <a:prstGeom prst="rect">
            <a:avLst/>
          </a:prstGeom>
          <a:noFill/>
          <a:ln/>
        </p:spPr>
        <p:txBody>
          <a:bodyPr wrap="square" rtlCol="0" anchor="t"/>
          <a:lstStyle/>
          <a:p>
            <a:pPr indent="0" marL="0">
              <a:lnSpc>
                <a:spcPct val="110000"/>
              </a:lnSpc>
              <a:buNone/>
            </a:pPr>
            <a:r>
              <a:rPr lang="en-US" sz="1100" b="1" dirty="0">
                <a:solidFill>
                  <a:srgbClr val="201F1E"/>
                </a:solidFill>
                <a:latin typeface="Segoe UI" pitchFamily="34" charset="0"/>
                <a:ea typeface="Segoe UI" pitchFamily="34" charset="-122"/>
                <a:cs typeface="Segoe UI" pitchFamily="34" charset="-120"/>
              </a:rPr>
              <a:t>Dashboard:  </a:t>
            </a:r>
            <a:pPr indent="0" marL="0">
              <a:lnSpc>
                <a:spcPct val="110000"/>
              </a:lnSpc>
              <a:buNone/>
            </a:pPr>
            <a:r>
              <a:rPr lang="en-US" sz="1100" dirty="0">
                <a:solidFill>
                  <a:srgbClr val="201F1E"/>
                </a:solidFill>
                <a:latin typeface="Segoe UI" pitchFamily="34" charset="0"/>
                <a:ea typeface="Segoe UI" pitchFamily="34" charset="-122"/>
                <a:cs typeface="Segoe UI" pitchFamily="34" charset="-120"/>
              </a:rPr>
              <a:t>http://localhost:8000/dashboard
</a:t>
            </a:r>
            <a:pPr indent="0" marL="0">
              <a:lnSpc>
                <a:spcPct val="110000"/>
              </a:lnSpc>
              <a:buNone/>
            </a:pPr>
            <a:r>
              <a:rPr lang="en-US" sz="1100" b="1" dirty="0">
                <a:solidFill>
                  <a:srgbClr val="201F1E"/>
                </a:solidFill>
                <a:latin typeface="Segoe UI" pitchFamily="34" charset="0"/>
                <a:ea typeface="Segoe UI" pitchFamily="34" charset="-122"/>
                <a:cs typeface="Segoe UI" pitchFamily="34" charset="-120"/>
              </a:rPr>
              <a:t>Public (demo):  </a:t>
            </a:r>
            <a:pPr indent="0" marL="0">
              <a:lnSpc>
                <a:spcPct val="110000"/>
              </a:lnSpc>
              <a:buNone/>
            </a:pPr>
            <a:r>
              <a:rPr lang="en-US" sz="1100" dirty="0">
                <a:solidFill>
                  <a:srgbClr val="201F1E"/>
                </a:solidFill>
                <a:latin typeface="Segoe UI" pitchFamily="34" charset="0"/>
                <a:ea typeface="Segoe UI" pitchFamily="34" charset="-122"/>
                <a:cs typeface="Segoe UI" pitchFamily="34" charset="-120"/>
              </a:rPr>
              <a:t>https://&lt;your-ngrok&gt;.ngrok-free.dev
</a:t>
            </a:r>
            <a:pPr indent="0" marL="0">
              <a:lnSpc>
                <a:spcPct val="110000"/>
              </a:lnSpc>
              <a:buNone/>
            </a:pPr>
            <a:r>
              <a:rPr lang="en-US" sz="1100" b="1" dirty="0">
                <a:solidFill>
                  <a:srgbClr val="201F1E"/>
                </a:solidFill>
                <a:latin typeface="Segoe UI" pitchFamily="34" charset="0"/>
                <a:ea typeface="Segoe UI" pitchFamily="34" charset="-122"/>
                <a:cs typeface="Segoe UI" pitchFamily="34" charset="-120"/>
              </a:rPr>
              <a:t>Repo:  </a:t>
            </a:r>
            <a:pPr indent="0" marL="0">
              <a:lnSpc>
                <a:spcPct val="110000"/>
              </a:lnSpc>
              <a:buNone/>
            </a:pPr>
            <a:r>
              <a:rPr lang="en-US" sz="1100" dirty="0">
                <a:solidFill>
                  <a:srgbClr val="201F1E"/>
                </a:solidFill>
                <a:latin typeface="Segoe UI" pitchFamily="34" charset="0"/>
                <a:ea typeface="Segoe UI" pitchFamily="34" charset="-122"/>
                <a:cs typeface="Segoe UI" pitchFamily="34" charset="-120"/>
              </a:rPr>
              <a:t>github.com/muskan-3210/devguardian-demo
</a:t>
            </a:r>
            <a:pPr indent="0" marL="0">
              <a:lnSpc>
                <a:spcPct val="110000"/>
              </a:lnSpc>
              <a:buNone/>
            </a:pPr>
            <a:r>
              <a:rPr lang="en-US" sz="1100" b="1" dirty="0">
                <a:solidFill>
                  <a:srgbClr val="201F1E"/>
                </a:solidFill>
                <a:latin typeface="Segoe UI" pitchFamily="34" charset="0"/>
                <a:ea typeface="Segoe UI" pitchFamily="34" charset="-122"/>
                <a:cs typeface="Segoe UI" pitchFamily="34" charset="-120"/>
              </a:rPr>
              <a:t>Run:  </a:t>
            </a:r>
            <a:pPr indent="0" marL="0">
              <a:lnSpc>
                <a:spcPct val="110000"/>
              </a:lnSpc>
              <a:buNone/>
            </a:pPr>
            <a:r>
              <a:rPr lang="en-US" sz="1100" dirty="0">
                <a:solidFill>
                  <a:srgbClr val="201F1E"/>
                </a:solidFill>
                <a:latin typeface="Segoe UI" pitchFamily="34" charset="0"/>
                <a:ea typeface="Segoe UI" pitchFamily="34" charset="-122"/>
                <a:cs typeface="Segoe UI" pitchFamily="34" charset="-120"/>
              </a:rPr>
              <a:t>python -m app.seeder  →  uvicorn app.main:app</a:t>
            </a:r>
            <a:endParaRPr lang="en-US" sz="1100" dirty="0"/>
          </a:p>
        </p:txBody>
      </p:sp>
      <p:sp>
        <p:nvSpPr>
          <p:cNvPr id="19" name="Shape 15"/>
          <p:cNvSpPr/>
          <p:nvPr/>
        </p:nvSpPr>
        <p:spPr>
          <a:xfrm>
            <a:off x="6172200" y="3657600"/>
            <a:ext cx="5468112" cy="2468880"/>
          </a:xfrm>
          <a:prstGeom prst="roundRect">
            <a:avLst>
              <a:gd name="adj" fmla="val 2593"/>
            </a:avLst>
          </a:prstGeom>
          <a:solidFill>
            <a:srgbClr val="FFFFFF"/>
          </a:solidFill>
          <a:ln w="12700">
            <a:solidFill>
              <a:srgbClr val="E1DFDD"/>
            </a:solidFill>
            <a:prstDash val="solid"/>
          </a:ln>
        </p:spPr>
      </p:sp>
      <p:sp>
        <p:nvSpPr>
          <p:cNvPr id="20" name="Shape 16"/>
          <p:cNvSpPr/>
          <p:nvPr/>
        </p:nvSpPr>
        <p:spPr>
          <a:xfrm>
            <a:off x="6172200" y="3657600"/>
            <a:ext cx="82296" cy="2468880"/>
          </a:xfrm>
          <a:prstGeom prst="roundRect">
            <a:avLst>
              <a:gd name="adj" fmla="val 44444"/>
            </a:avLst>
          </a:prstGeom>
          <a:solidFill>
            <a:srgbClr val="F25022"/>
          </a:solidFill>
          <a:ln/>
        </p:spPr>
      </p:sp>
      <p:sp>
        <p:nvSpPr>
          <p:cNvPr id="21" name="Text 17"/>
          <p:cNvSpPr/>
          <p:nvPr/>
        </p:nvSpPr>
        <p:spPr>
          <a:xfrm>
            <a:off x="6400800" y="3749040"/>
            <a:ext cx="5029200" cy="320040"/>
          </a:xfrm>
          <a:prstGeom prst="rect">
            <a:avLst/>
          </a:prstGeom>
          <a:noFill/>
          <a:ln/>
        </p:spPr>
        <p:txBody>
          <a:bodyPr wrap="square" rtlCol="0" anchor="ctr"/>
          <a:lstStyle/>
          <a:p>
            <a:pPr indent="0" marL="0">
              <a:buNone/>
            </a:pPr>
            <a:r>
              <a:rPr lang="en-US" sz="1400" b="1" dirty="0">
                <a:solidFill>
                  <a:srgbClr val="201F1E"/>
                </a:solidFill>
                <a:latin typeface="Segoe UI Semibold" pitchFamily="34" charset="0"/>
                <a:ea typeface="Segoe UI Semibold" pitchFamily="34" charset="-122"/>
                <a:cs typeface="Segoe UI Semibold" pitchFamily="34" charset="-120"/>
              </a:rPr>
              <a:t>Demo video</a:t>
            </a:r>
            <a:endParaRPr lang="en-US" sz="1400" dirty="0"/>
          </a:p>
        </p:txBody>
      </p:sp>
      <p:sp>
        <p:nvSpPr>
          <p:cNvPr id="22" name="Text 18"/>
          <p:cNvSpPr/>
          <p:nvPr/>
        </p:nvSpPr>
        <p:spPr>
          <a:xfrm>
            <a:off x="6400800" y="4069080"/>
            <a:ext cx="5029200" cy="365760"/>
          </a:xfrm>
          <a:prstGeom prst="rect">
            <a:avLst/>
          </a:prstGeom>
          <a:noFill/>
          <a:ln/>
        </p:spPr>
        <p:txBody>
          <a:bodyPr wrap="square" rtlCol="0" anchor="ctr"/>
          <a:lstStyle/>
          <a:p>
            <a:pPr indent="0" marL="0">
              <a:buNone/>
            </a:pPr>
            <a:r>
              <a:rPr lang="en-US" sz="1100" dirty="0">
                <a:solidFill>
                  <a:srgbClr val="605E5C"/>
                </a:solidFill>
                <a:latin typeface="Segoe UI" pitchFamily="34" charset="0"/>
                <a:ea typeface="Segoe UI" pitchFamily="34" charset="-122"/>
                <a:cs typeface="Segoe UI" pitchFamily="34" charset="-120"/>
              </a:rPr>
              <a:t>Paste your recorded walkthrough link here before submitting:</a:t>
            </a:r>
            <a:endParaRPr lang="en-US" sz="1100" dirty="0"/>
          </a:p>
        </p:txBody>
      </p:sp>
      <p:sp>
        <p:nvSpPr>
          <p:cNvPr id="23" name="Shape 19"/>
          <p:cNvSpPr/>
          <p:nvPr/>
        </p:nvSpPr>
        <p:spPr>
          <a:xfrm>
            <a:off x="6400800" y="4480560"/>
            <a:ext cx="5029200" cy="502920"/>
          </a:xfrm>
          <a:prstGeom prst="roundRect">
            <a:avLst>
              <a:gd name="adj" fmla="val 10909"/>
            </a:avLst>
          </a:prstGeom>
          <a:solidFill>
            <a:srgbClr val="F3F2F1"/>
          </a:solidFill>
          <a:ln w="12700">
            <a:solidFill>
              <a:srgbClr val="8A8886"/>
            </a:solidFill>
            <a:prstDash val="dash"/>
          </a:ln>
        </p:spPr>
      </p:sp>
      <p:sp>
        <p:nvSpPr>
          <p:cNvPr id="24" name="Text 20"/>
          <p:cNvSpPr/>
          <p:nvPr/>
        </p:nvSpPr>
        <p:spPr>
          <a:xfrm>
            <a:off x="6400800" y="4480560"/>
            <a:ext cx="5029200" cy="502920"/>
          </a:xfrm>
          <a:prstGeom prst="rect">
            <a:avLst/>
          </a:prstGeom>
          <a:noFill/>
          <a:ln/>
        </p:spPr>
        <p:txBody>
          <a:bodyPr wrap="square" rtlCol="0" anchor="ctr"/>
          <a:lstStyle/>
          <a:p>
            <a:pPr algn="ctr" indent="0" marL="0">
              <a:buNone/>
            </a:pPr>
            <a:r>
              <a:rPr lang="en-US" sz="1200" b="1" dirty="0">
                <a:solidFill>
                  <a:srgbClr val="005A9E"/>
                </a:solidFill>
                <a:latin typeface="Segoe UI Semibold" pitchFamily="34" charset="0"/>
                <a:ea typeface="Segoe UI Semibold" pitchFamily="34" charset="-122"/>
                <a:cs typeface="Segoe UI Semibold" pitchFamily="34" charset="-120"/>
              </a:rPr>
              <a:t>▶  [ add demo video link ]</a:t>
            </a:r>
            <a:endParaRPr lang="en-US" sz="1200" dirty="0"/>
          </a:p>
        </p:txBody>
      </p:sp>
      <p:sp>
        <p:nvSpPr>
          <p:cNvPr id="25" name="Text 21"/>
          <p:cNvSpPr/>
          <p:nvPr/>
        </p:nvSpPr>
        <p:spPr>
          <a:xfrm>
            <a:off x="6400800" y="5120640"/>
            <a:ext cx="5029200" cy="731520"/>
          </a:xfrm>
          <a:prstGeom prst="rect">
            <a:avLst/>
          </a:prstGeom>
          <a:noFill/>
          <a:ln/>
        </p:spPr>
        <p:txBody>
          <a:bodyPr wrap="square" rtlCol="0" anchor="t"/>
          <a:lstStyle/>
          <a:p>
            <a:pPr indent="0" marL="0">
              <a:buNone/>
            </a:pPr>
            <a:r>
              <a:rPr lang="en-US" sz="1000" i="1" dirty="0">
                <a:solidFill>
                  <a:srgbClr val="8A8886"/>
                </a:solidFill>
                <a:latin typeface="Segoe UI" pitchFamily="34" charset="0"/>
                <a:ea typeface="Segoe UI" pitchFamily="34" charset="-122"/>
                <a:cs typeface="Segoe UI" pitchFamily="34" charset="-120"/>
              </a:rPr>
              <a:t>Tip: record a 1080p screen capture of the buggy-PR → blocked-merge flow + the dashboard.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8"/>
        </a:solidFill>
      </p:bgPr>
    </p:bg>
    <p:spTree>
      <p:nvGrpSpPr>
        <p:cNvPr id="1" name=""/>
        <p:cNvGrpSpPr/>
        <p:nvPr/>
      </p:nvGrpSpPr>
      <p:grpSpPr>
        <a:xfrm>
          <a:off x="0" y="0"/>
          <a:ext cx="0" cy="0"/>
          <a:chOff x="0" y="0"/>
          <a:chExt cx="0" cy="0"/>
        </a:xfrm>
      </p:grpSpPr>
      <p:pic>
        <p:nvPicPr>
          <p:cNvPr id="2" name="Image 0" descr="assets/logo_shield.png">    </p:cNvPr>
          <p:cNvPicPr>
            <a:picLocks noChangeAspect="1"/>
          </p:cNvPicPr>
          <p:nvPr/>
        </p:nvPicPr>
        <p:blipFill>
          <a:blip r:embed="rId1"/>
          <a:stretch>
            <a:fillRect/>
          </a:stretch>
        </p:blipFill>
        <p:spPr>
          <a:xfrm>
            <a:off x="457200" y="310896"/>
            <a:ext cx="566928" cy="566928"/>
          </a:xfrm>
          <a:prstGeom prst="rect">
            <a:avLst/>
          </a:prstGeom>
        </p:spPr>
      </p:pic>
      <p:sp>
        <p:nvSpPr>
          <p:cNvPr id="3" name="Text 0"/>
          <p:cNvSpPr/>
          <p:nvPr/>
        </p:nvSpPr>
        <p:spPr>
          <a:xfrm>
            <a:off x="1170432" y="310896"/>
            <a:ext cx="10515600" cy="566928"/>
          </a:xfrm>
          <a:prstGeom prst="rect">
            <a:avLst/>
          </a:prstGeom>
          <a:noFill/>
          <a:ln/>
        </p:spPr>
        <p:txBody>
          <a:bodyPr wrap="square" rtlCol="0" anchor="ctr"/>
          <a:lstStyle/>
          <a:p>
            <a:pPr indent="0" marL="0">
              <a:buNone/>
            </a:pPr>
            <a:r>
              <a:rPr lang="en-US" sz="2600" b="1" dirty="0">
                <a:solidFill>
                  <a:srgbClr val="201F1E"/>
                </a:solidFill>
                <a:latin typeface="Segoe UI Semibold" pitchFamily="34" charset="0"/>
                <a:ea typeface="Segoe UI Semibold" pitchFamily="34" charset="-122"/>
                <a:cs typeface="Segoe UI Semibold" pitchFamily="34" charset="-120"/>
              </a:rPr>
              <a:t>Attachments</a:t>
            </a:r>
            <a:endParaRPr lang="en-US" sz="2600" dirty="0"/>
          </a:p>
        </p:txBody>
      </p:sp>
      <p:sp>
        <p:nvSpPr>
          <p:cNvPr id="4" name="Shape 1"/>
          <p:cNvSpPr/>
          <p:nvPr/>
        </p:nvSpPr>
        <p:spPr>
          <a:xfrm>
            <a:off x="1188720" y="969264"/>
            <a:ext cx="109728" cy="64008"/>
          </a:xfrm>
          <a:prstGeom prst="rect">
            <a:avLst/>
          </a:prstGeom>
          <a:solidFill>
            <a:srgbClr val="F25022"/>
          </a:solidFill>
          <a:ln/>
        </p:spPr>
      </p:sp>
      <p:sp>
        <p:nvSpPr>
          <p:cNvPr id="5" name="Shape 2"/>
          <p:cNvSpPr/>
          <p:nvPr/>
        </p:nvSpPr>
        <p:spPr>
          <a:xfrm>
            <a:off x="1335024" y="969264"/>
            <a:ext cx="109728" cy="64008"/>
          </a:xfrm>
          <a:prstGeom prst="rect">
            <a:avLst/>
          </a:prstGeom>
          <a:solidFill>
            <a:srgbClr val="7FBA00"/>
          </a:solidFill>
          <a:ln/>
        </p:spPr>
      </p:sp>
      <p:sp>
        <p:nvSpPr>
          <p:cNvPr id="6" name="Shape 3"/>
          <p:cNvSpPr/>
          <p:nvPr/>
        </p:nvSpPr>
        <p:spPr>
          <a:xfrm>
            <a:off x="1481328" y="969264"/>
            <a:ext cx="109728" cy="64008"/>
          </a:xfrm>
          <a:prstGeom prst="rect">
            <a:avLst/>
          </a:prstGeom>
          <a:solidFill>
            <a:srgbClr val="00A4EF"/>
          </a:solidFill>
          <a:ln/>
        </p:spPr>
      </p:sp>
      <p:sp>
        <p:nvSpPr>
          <p:cNvPr id="7" name="Shape 4"/>
          <p:cNvSpPr/>
          <p:nvPr/>
        </p:nvSpPr>
        <p:spPr>
          <a:xfrm>
            <a:off x="1627632" y="969264"/>
            <a:ext cx="109728" cy="64008"/>
          </a:xfrm>
          <a:prstGeom prst="rect">
            <a:avLst/>
          </a:prstGeom>
          <a:solidFill>
            <a:srgbClr val="FFB900"/>
          </a:solidFill>
          <a:ln/>
        </p:spPr>
      </p:sp>
      <p:sp>
        <p:nvSpPr>
          <p:cNvPr id="8" name="Text 5"/>
          <p:cNvSpPr/>
          <p:nvPr/>
        </p:nvSpPr>
        <p:spPr>
          <a:xfrm>
            <a:off x="457200" y="6355080"/>
            <a:ext cx="9875520" cy="292608"/>
          </a:xfrm>
          <a:prstGeom prst="rect">
            <a:avLst/>
          </a:prstGeom>
          <a:noFill/>
          <a:ln/>
        </p:spPr>
        <p:txBody>
          <a:bodyPr wrap="square" rtlCol="0" anchor="ctr"/>
          <a:lstStyle/>
          <a:p>
            <a:pPr algn="l" indent="0" marL="0">
              <a:buNone/>
            </a:pPr>
            <a:r>
              <a:rPr lang="en-US" sz="900" dirty="0">
                <a:solidFill>
                  <a:srgbClr val="8A8886"/>
                </a:solidFill>
                <a:latin typeface="Segoe UI" pitchFamily="34" charset="0"/>
                <a:ea typeface="Segoe UI" pitchFamily="34" charset="-122"/>
                <a:cs typeface="Segoe UI" pitchFamily="34" charset="-120"/>
              </a:rPr>
              <a:t>The Hallucinato  ·  Microsoft Hackathon — Theme 06: AI-Powered Production Function: Reinventing Work</a:t>
            </a:r>
            <a:endParaRPr lang="en-US" sz="900" dirty="0"/>
          </a:p>
        </p:txBody>
      </p:sp>
      <p:sp>
        <p:nvSpPr>
          <p:cNvPr id="9" name="Text 6"/>
          <p:cNvSpPr/>
          <p:nvPr/>
        </p:nvSpPr>
        <p:spPr>
          <a:xfrm>
            <a:off x="11064240" y="6355080"/>
            <a:ext cx="457200" cy="292608"/>
          </a:xfrm>
          <a:prstGeom prst="rect">
            <a:avLst/>
          </a:prstGeom>
          <a:noFill/>
          <a:ln/>
        </p:spPr>
        <p:txBody>
          <a:bodyPr wrap="square"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10</a:t>
            </a:r>
            <a:endParaRPr lang="en-US" sz="900" dirty="0"/>
          </a:p>
        </p:txBody>
      </p:sp>
      <p:pic>
        <p:nvPicPr>
          <p:cNvPr id="10" name="Image 1" descr="assets/logo_squares.png">    </p:cNvPr>
          <p:cNvPicPr>
            <a:picLocks noChangeAspect="1"/>
          </p:cNvPicPr>
          <p:nvPr/>
        </p:nvPicPr>
        <p:blipFill>
          <a:blip r:embed="rId2"/>
          <a:stretch>
            <a:fillRect/>
          </a:stretch>
        </p:blipFill>
        <p:spPr>
          <a:xfrm>
            <a:off x="11649456" y="6355080"/>
            <a:ext cx="292608" cy="292608"/>
          </a:xfrm>
          <a:prstGeom prst="rect">
            <a:avLst/>
          </a:prstGeom>
        </p:spPr>
      </p:pic>
      <p:sp>
        <p:nvSpPr>
          <p:cNvPr id="11" name="Shape 7"/>
          <p:cNvSpPr/>
          <p:nvPr/>
        </p:nvSpPr>
        <p:spPr>
          <a:xfrm>
            <a:off x="548640" y="1325880"/>
            <a:ext cx="3429000" cy="2788920"/>
          </a:xfrm>
          <a:prstGeom prst="roundRect">
            <a:avLst>
              <a:gd name="adj" fmla="val 2295"/>
            </a:avLst>
          </a:prstGeom>
          <a:solidFill>
            <a:srgbClr val="FFFFFF"/>
          </a:solidFill>
          <a:ln w="12700">
            <a:solidFill>
              <a:srgbClr val="E1DFDD"/>
            </a:solidFill>
            <a:prstDash val="solid"/>
          </a:ln>
        </p:spPr>
      </p:sp>
      <p:pic>
        <p:nvPicPr>
          <p:cNvPr id="12" name="Image 2" descr="../docs/architecture.png">    </p:cNvPr>
          <p:cNvPicPr>
            <a:picLocks noChangeAspect="1"/>
          </p:cNvPicPr>
          <p:nvPr/>
        </p:nvPicPr>
        <p:blipFill>
          <a:blip r:embed="rId3"/>
          <a:stretch>
            <a:fillRect/>
          </a:stretch>
        </p:blipFill>
        <p:spPr>
          <a:xfrm>
            <a:off x="658368" y="1463040"/>
            <a:ext cx="3209544" cy="2240280"/>
          </a:xfrm>
          <a:prstGeom prst="rect">
            <a:avLst/>
          </a:prstGeom>
        </p:spPr>
      </p:pic>
      <p:sp>
        <p:nvSpPr>
          <p:cNvPr id="13" name="Text 8"/>
          <p:cNvSpPr/>
          <p:nvPr/>
        </p:nvSpPr>
        <p:spPr>
          <a:xfrm>
            <a:off x="548640" y="3767328"/>
            <a:ext cx="3429000" cy="320040"/>
          </a:xfrm>
          <a:prstGeom prst="rect">
            <a:avLst/>
          </a:prstGeom>
          <a:noFill/>
          <a:ln/>
        </p:spPr>
        <p:txBody>
          <a:bodyPr wrap="square" rtlCol="0" anchor="ctr"/>
          <a:lstStyle/>
          <a:p>
            <a:pPr algn="ctr" indent="0" marL="0">
              <a:buNone/>
            </a:pPr>
            <a:r>
              <a:rPr lang="en-US" sz="1150" b="1" dirty="0">
                <a:solidFill>
                  <a:srgbClr val="201F1E"/>
                </a:solidFill>
                <a:latin typeface="Segoe UI Semibold" pitchFamily="34" charset="0"/>
                <a:ea typeface="Segoe UI Semibold" pitchFamily="34" charset="-122"/>
                <a:cs typeface="Segoe UI Semibold" pitchFamily="34" charset="-120"/>
              </a:rPr>
              <a:t>System architecture</a:t>
            </a:r>
            <a:endParaRPr lang="en-US" sz="1150" dirty="0"/>
          </a:p>
        </p:txBody>
      </p:sp>
      <p:sp>
        <p:nvSpPr>
          <p:cNvPr id="14" name="Shape 9"/>
          <p:cNvSpPr/>
          <p:nvPr/>
        </p:nvSpPr>
        <p:spPr>
          <a:xfrm>
            <a:off x="4270248" y="1325880"/>
            <a:ext cx="3429000" cy="2788920"/>
          </a:xfrm>
          <a:prstGeom prst="roundRect">
            <a:avLst>
              <a:gd name="adj" fmla="val 2295"/>
            </a:avLst>
          </a:prstGeom>
          <a:solidFill>
            <a:srgbClr val="FFFFFF"/>
          </a:solidFill>
          <a:ln w="12700">
            <a:solidFill>
              <a:srgbClr val="E1DFDD"/>
            </a:solidFill>
            <a:prstDash val="solid"/>
          </a:ln>
        </p:spPr>
      </p:sp>
      <p:pic>
        <p:nvPicPr>
          <p:cNvPr id="15" name="Image 3" descr="../docs/user_flow.png">    </p:cNvPr>
          <p:cNvPicPr>
            <a:picLocks noChangeAspect="1"/>
          </p:cNvPicPr>
          <p:nvPr/>
        </p:nvPicPr>
        <p:blipFill>
          <a:blip r:embed="rId4"/>
          <a:stretch>
            <a:fillRect/>
          </a:stretch>
        </p:blipFill>
        <p:spPr>
          <a:xfrm>
            <a:off x="4379976" y="1463040"/>
            <a:ext cx="3209544" cy="2240280"/>
          </a:xfrm>
          <a:prstGeom prst="rect">
            <a:avLst/>
          </a:prstGeom>
        </p:spPr>
      </p:pic>
      <p:sp>
        <p:nvSpPr>
          <p:cNvPr id="16" name="Text 10"/>
          <p:cNvSpPr/>
          <p:nvPr/>
        </p:nvSpPr>
        <p:spPr>
          <a:xfrm>
            <a:off x="4270248" y="3767328"/>
            <a:ext cx="3429000" cy="320040"/>
          </a:xfrm>
          <a:prstGeom prst="rect">
            <a:avLst/>
          </a:prstGeom>
          <a:noFill/>
          <a:ln/>
        </p:spPr>
        <p:txBody>
          <a:bodyPr wrap="square" rtlCol="0" anchor="ctr"/>
          <a:lstStyle/>
          <a:p>
            <a:pPr algn="ctr" indent="0" marL="0">
              <a:buNone/>
            </a:pPr>
            <a:r>
              <a:rPr lang="en-US" sz="1150" b="1" dirty="0">
                <a:solidFill>
                  <a:srgbClr val="201F1E"/>
                </a:solidFill>
                <a:latin typeface="Segoe UI Semibold" pitchFamily="34" charset="0"/>
                <a:ea typeface="Segoe UI Semibold" pitchFamily="34" charset="-122"/>
                <a:cs typeface="Segoe UI Semibold" pitchFamily="34" charset="-120"/>
              </a:rPr>
              <a:t>PR review flow</a:t>
            </a:r>
            <a:endParaRPr lang="en-US" sz="1150" dirty="0"/>
          </a:p>
        </p:txBody>
      </p:sp>
      <p:sp>
        <p:nvSpPr>
          <p:cNvPr id="17" name="Shape 11"/>
          <p:cNvSpPr/>
          <p:nvPr/>
        </p:nvSpPr>
        <p:spPr>
          <a:xfrm>
            <a:off x="7991856" y="1325880"/>
            <a:ext cx="3429000" cy="2788920"/>
          </a:xfrm>
          <a:prstGeom prst="roundRect">
            <a:avLst>
              <a:gd name="adj" fmla="val 2295"/>
            </a:avLst>
          </a:prstGeom>
          <a:solidFill>
            <a:srgbClr val="FFFFFF"/>
          </a:solidFill>
          <a:ln w="12700">
            <a:solidFill>
              <a:srgbClr val="E1DFDD"/>
            </a:solidFill>
            <a:prstDash val="solid"/>
          </a:ln>
        </p:spPr>
      </p:sp>
      <p:pic>
        <p:nvPicPr>
          <p:cNvPr id="18" name="Image 4" descr="../docs/er_diagram.png">    </p:cNvPr>
          <p:cNvPicPr>
            <a:picLocks noChangeAspect="1"/>
          </p:cNvPicPr>
          <p:nvPr/>
        </p:nvPicPr>
        <p:blipFill>
          <a:blip r:embed="rId5"/>
          <a:stretch>
            <a:fillRect/>
          </a:stretch>
        </p:blipFill>
        <p:spPr>
          <a:xfrm>
            <a:off x="8101584" y="1463040"/>
            <a:ext cx="3209544" cy="2240280"/>
          </a:xfrm>
          <a:prstGeom prst="rect">
            <a:avLst/>
          </a:prstGeom>
        </p:spPr>
      </p:pic>
      <p:sp>
        <p:nvSpPr>
          <p:cNvPr id="19" name="Text 12"/>
          <p:cNvSpPr/>
          <p:nvPr/>
        </p:nvSpPr>
        <p:spPr>
          <a:xfrm>
            <a:off x="7991856" y="3767328"/>
            <a:ext cx="3429000" cy="320040"/>
          </a:xfrm>
          <a:prstGeom prst="rect">
            <a:avLst/>
          </a:prstGeom>
          <a:noFill/>
          <a:ln/>
        </p:spPr>
        <p:txBody>
          <a:bodyPr wrap="square" rtlCol="0" anchor="ctr"/>
          <a:lstStyle/>
          <a:p>
            <a:pPr algn="ctr" indent="0" marL="0">
              <a:buNone/>
            </a:pPr>
            <a:r>
              <a:rPr lang="en-US" sz="1150" b="1" dirty="0">
                <a:solidFill>
                  <a:srgbClr val="201F1E"/>
                </a:solidFill>
                <a:latin typeface="Segoe UI Semibold" pitchFamily="34" charset="0"/>
                <a:ea typeface="Segoe UI Semibold" pitchFamily="34" charset="-122"/>
                <a:cs typeface="Segoe UI Semibold" pitchFamily="34" charset="-120"/>
              </a:rPr>
              <a:t>Database ER diagram</a:t>
            </a:r>
            <a:endParaRPr lang="en-US" sz="1150" dirty="0"/>
          </a:p>
        </p:txBody>
      </p:sp>
      <p:sp>
        <p:nvSpPr>
          <p:cNvPr id="20" name="Shape 13"/>
          <p:cNvSpPr/>
          <p:nvPr/>
        </p:nvSpPr>
        <p:spPr>
          <a:xfrm>
            <a:off x="548640" y="4343400"/>
            <a:ext cx="11091672" cy="1783080"/>
          </a:xfrm>
          <a:prstGeom prst="roundRect">
            <a:avLst>
              <a:gd name="adj" fmla="val 3590"/>
            </a:avLst>
          </a:prstGeom>
          <a:solidFill>
            <a:srgbClr val="FFFFFF"/>
          </a:solidFill>
          <a:ln w="12700">
            <a:solidFill>
              <a:srgbClr val="E1DFDD"/>
            </a:solidFill>
            <a:prstDash val="solid"/>
          </a:ln>
        </p:spPr>
      </p:sp>
      <p:sp>
        <p:nvSpPr>
          <p:cNvPr id="21" name="Shape 14"/>
          <p:cNvSpPr/>
          <p:nvPr/>
        </p:nvSpPr>
        <p:spPr>
          <a:xfrm>
            <a:off x="548640" y="4343400"/>
            <a:ext cx="82296" cy="1783080"/>
          </a:xfrm>
          <a:prstGeom prst="roundRect">
            <a:avLst>
              <a:gd name="adj" fmla="val 44444"/>
            </a:avLst>
          </a:prstGeom>
          <a:solidFill>
            <a:srgbClr val="0078D4"/>
          </a:solidFill>
          <a:ln/>
        </p:spPr>
      </p:sp>
      <p:sp>
        <p:nvSpPr>
          <p:cNvPr id="22" name="Text 15"/>
          <p:cNvSpPr/>
          <p:nvPr/>
        </p:nvSpPr>
        <p:spPr>
          <a:xfrm>
            <a:off x="777240" y="4434840"/>
            <a:ext cx="10058400" cy="320040"/>
          </a:xfrm>
          <a:prstGeom prst="rect">
            <a:avLst/>
          </a:prstGeom>
          <a:noFill/>
          <a:ln/>
        </p:spPr>
        <p:txBody>
          <a:bodyPr wrap="square" rtlCol="0" anchor="ctr"/>
          <a:lstStyle/>
          <a:p>
            <a:pPr indent="0" marL="0">
              <a:buNone/>
            </a:pPr>
            <a:r>
              <a:rPr lang="en-US" sz="1300" b="1" dirty="0">
                <a:solidFill>
                  <a:srgbClr val="201F1E"/>
                </a:solidFill>
                <a:latin typeface="Segoe UI Semibold" pitchFamily="34" charset="0"/>
                <a:ea typeface="Segoe UI Semibold" pitchFamily="34" charset="-122"/>
                <a:cs typeface="Segoe UI Semibold" pitchFamily="34" charset="-120"/>
              </a:rPr>
              <a:t>Documents &amp; links (uploaded on the platform)</a:t>
            </a:r>
            <a:endParaRPr lang="en-US" sz="1300" dirty="0"/>
          </a:p>
        </p:txBody>
      </p:sp>
      <p:sp>
        <p:nvSpPr>
          <p:cNvPr id="23" name="Text 16"/>
          <p:cNvSpPr/>
          <p:nvPr/>
        </p:nvSpPr>
        <p:spPr>
          <a:xfrm>
            <a:off x="777240" y="4754880"/>
            <a:ext cx="10607040" cy="1280160"/>
          </a:xfrm>
          <a:prstGeom prst="rect">
            <a:avLst/>
          </a:prstGeom>
          <a:noFill/>
          <a:ln/>
        </p:spPr>
        <p:txBody>
          <a:bodyPr wrap="square" rtlCol="0" anchor="t"/>
          <a:lstStyle/>
          <a:p>
            <a:pPr marL="152400" indent="-152400">
              <a:lnSpc>
                <a:spcPct val="110000"/>
              </a:lnSpc>
              <a:buSzPct val="100000"/>
              <a:buChar char="•"/>
            </a:pPr>
            <a:r>
              <a:rPr lang="en-US" sz="1150" dirty="0">
                <a:solidFill>
                  <a:srgbClr val="201F1E"/>
                </a:solidFill>
                <a:latin typeface="Segoe UI" pitchFamily="34" charset="0"/>
                <a:ea typeface="Segoe UI" pitchFamily="34" charset="-122"/>
                <a:cs typeface="Segoe UI" pitchFamily="34" charset="-120"/>
              </a:rPr>
              <a:t>docs/DevGuardian_Project_Brief.pdf  ·  docs/DevGuardian_Requirements_Build_Flow.pdf (updated, with diagrams)</a:t>
            </a:r>
            <a:endParaRPr lang="en-US" sz="1150" dirty="0"/>
          </a:p>
          <a:p>
            <a:pPr marL="152400" indent="-152400">
              <a:lnSpc>
                <a:spcPct val="110000"/>
              </a:lnSpc>
              <a:buSzPct val="100000"/>
              <a:buChar char="•"/>
            </a:pPr>
            <a:r>
              <a:rPr lang="en-US" sz="1150" dirty="0">
                <a:solidFill>
                  <a:srgbClr val="201F1E"/>
                </a:solidFill>
                <a:latin typeface="Segoe UI" pitchFamily="34" charset="0"/>
                <a:ea typeface="Segoe UI" pitchFamily="34" charset="-122"/>
                <a:cs typeface="Segoe UI" pitchFamily="34" charset="-120"/>
              </a:rPr>
              <a:t>docs/ARCHITECTURE.md · DEPLOYMENT.md · DEMO_SCRIPT.md · JUDGE_QA.md</a:t>
            </a:r>
            <a:endParaRPr lang="en-US" sz="1150" dirty="0"/>
          </a:p>
          <a:p>
            <a:pPr marL="152400" indent="-152400">
              <a:lnSpc>
                <a:spcPct val="110000"/>
              </a:lnSpc>
              <a:buSzPct val="100000"/>
              <a:buChar char="•"/>
            </a:pPr>
            <a:r>
              <a:rPr lang="en-US" sz="1150" dirty="0">
                <a:solidFill>
                  <a:srgbClr val="201F1E"/>
                </a:solidFill>
                <a:latin typeface="Segoe UI" pitchFamily="34" charset="0"/>
                <a:ea typeface="Segoe UI" pitchFamily="34" charset="-122"/>
                <a:cs typeface="Segoe UI" pitchFamily="34" charset="-120"/>
              </a:rPr>
              <a:t>Source repository (FastAPI app/, tests/, Dockerfile, CI) + dashboard screenshots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DevGuardian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The Hallucinato</dc:creator>
  <cp:lastModifiedBy>The Hallucinato</cp:lastModifiedBy>
  <cp:revision>1</cp:revision>
  <dcterms:created xsi:type="dcterms:W3CDTF">2026-06-13T07:18:20Z</dcterms:created>
  <dcterms:modified xsi:type="dcterms:W3CDTF">2026-06-13T07:18:20Z</dcterms:modified>
</cp:coreProperties>
</file>